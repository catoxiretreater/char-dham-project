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alibri (MS)" charset="1" panose="020F0502020204030204"/>
      <p:regular r:id="rId21"/>
    </p:embeddedFont>
    <p:embeddedFont>
      <p:font typeface="Calibri (MS) Bold" charset="1" panose="020F0702030404030204"/>
      <p:regular r:id="rId22"/>
    </p:embeddedFont>
    <p:embeddedFont>
      <p:font typeface="Arial Bold" charset="1" panose="020B0704020202020204"/>
      <p:regular r:id="rId23"/>
    </p:embeddedFont>
    <p:embeddedFont>
      <p:font typeface="Arial" charset="1" panose="020B0604020202020204"/>
      <p:regular r:id="rId24"/>
    </p:embeddedFont>
    <p:embeddedFont>
      <p:font typeface="Canva Sans Bold" charset="1" panose="020B08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embeddings/oleObject1.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embeddings/oleObject2.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sciencedirect.com/science/article/abs/pii/S0956053X03000278" TargetMode="External" Type="http://schemas.openxmlformats.org/officeDocument/2006/relationships/hyperlink"/><Relationship Id="rId11" Target="https://www.researchgate.net/publication/233155383_Pilgrimage_and_the_Environment_Challenges_in_a_Pilgrimage_Centre" TargetMode="External" Type="http://schemas.openxmlformats.org/officeDocument/2006/relationships/hyperlink"/><Relationship Id="rId2" Target="../media/image1.jpeg" Type="http://schemas.openxmlformats.org/officeDocument/2006/relationships/image"/><Relationship Id="rId3" Target="https://www.sacredyatra.com/chardham-yatra-pilgrim-stats.html" TargetMode="External" Type="http://schemas.openxmlformats.org/officeDocument/2006/relationships/hyperlink"/><Relationship Id="rId4" Target="https://uttarakhandtourism.gov.in/assets/pdf/Final_Master%20Plan_Report.pdf" TargetMode="External" Type="http://schemas.openxmlformats.org/officeDocument/2006/relationships/hyperlink"/><Relationship Id="rId5" Target="https://www.sdcuk.in/wp-content/uploads/2024/08/DataAnalysisOf100DaysOfUttarakhandCharDhamYatra2024MidTermReport_SDC-Foundation.pdf" TargetMode="External" Type="http://schemas.openxmlformats.org/officeDocument/2006/relationships/hyperlink"/><Relationship Id="rId6" Target="https://jmr.sharadpauri.org/papers/19_2_2024/49_jmr2024277_Amit.pdf" TargetMode="External" Type="http://schemas.openxmlformats.org/officeDocument/2006/relationships/hyperlink"/><Relationship Id="rId7" Target="https://www.ejosdr.com/download/sustainability-and-environmental-management-of-pilgrimage-tourism-a-framework-for-mitigating-17637.pdf" TargetMode="External" Type="http://schemas.openxmlformats.org/officeDocument/2006/relationships/hyperlink"/><Relationship Id="rId8" Target="https://www.sentinel-hub.com/explore/eobrowser/" TargetMode="External" Type="http://schemas.openxmlformats.org/officeDocument/2006/relationships/hyperlink"/><Relationship Id="rId9" Target="https://earthexplorer.usgs.gov"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grpSp>
        <p:nvGrpSpPr>
          <p:cNvPr name="Group 6" id="6"/>
          <p:cNvGrpSpPr/>
          <p:nvPr/>
        </p:nvGrpSpPr>
        <p:grpSpPr>
          <a:xfrm rot="0">
            <a:off x="16002000" y="225704"/>
            <a:ext cx="2071868" cy="1024357"/>
            <a:chOff x="0" y="0"/>
            <a:chExt cx="2762491" cy="1365809"/>
          </a:xfrm>
        </p:grpSpPr>
        <p:sp>
          <p:nvSpPr>
            <p:cNvPr name="Freeform 7" id="7"/>
            <p:cNvSpPr/>
            <p:nvPr/>
          </p:nvSpPr>
          <p:spPr>
            <a:xfrm flipH="false" flipV="false" rot="0">
              <a:off x="0" y="0"/>
              <a:ext cx="2762504" cy="1365758"/>
            </a:xfrm>
            <a:custGeom>
              <a:avLst/>
              <a:gdLst/>
              <a:ahLst/>
              <a:cxnLst/>
              <a:rect r="r" b="b" t="t" l="l"/>
              <a:pathLst>
                <a:path h="1365758" w="2762504">
                  <a:moveTo>
                    <a:pt x="0" y="0"/>
                  </a:moveTo>
                  <a:lnTo>
                    <a:pt x="2762504" y="0"/>
                  </a:lnTo>
                  <a:lnTo>
                    <a:pt x="2762504" y="1365758"/>
                  </a:lnTo>
                  <a:lnTo>
                    <a:pt x="0" y="1365758"/>
                  </a:lnTo>
                  <a:close/>
                </a:path>
              </a:pathLst>
            </a:custGeom>
            <a:solidFill>
              <a:srgbClr val="FFFFFF"/>
            </a:solidFill>
          </p:spPr>
        </p:sp>
      </p:grpSp>
      <p:grpSp>
        <p:nvGrpSpPr>
          <p:cNvPr name="Group 8" id="8"/>
          <p:cNvGrpSpPr/>
          <p:nvPr/>
        </p:nvGrpSpPr>
        <p:grpSpPr>
          <a:xfrm rot="0">
            <a:off x="457248" y="189166"/>
            <a:ext cx="1314259" cy="2237518"/>
            <a:chOff x="0" y="0"/>
            <a:chExt cx="1752346" cy="2983357"/>
          </a:xfrm>
        </p:grpSpPr>
        <p:sp>
          <p:nvSpPr>
            <p:cNvPr name="Freeform 9" id="9" descr="A picture containing text, sign, outdoor  Description automatically generated"/>
            <p:cNvSpPr/>
            <p:nvPr/>
          </p:nvSpPr>
          <p:spPr>
            <a:xfrm flipH="false" flipV="false" rot="0">
              <a:off x="0" y="0"/>
              <a:ext cx="1752346" cy="2983357"/>
            </a:xfrm>
            <a:custGeom>
              <a:avLst/>
              <a:gdLst/>
              <a:ahLst/>
              <a:cxnLst/>
              <a:rect r="r" b="b" t="t" l="l"/>
              <a:pathLst>
                <a:path h="2983357" w="1752346">
                  <a:moveTo>
                    <a:pt x="0" y="0"/>
                  </a:moveTo>
                  <a:lnTo>
                    <a:pt x="1752346" y="0"/>
                  </a:lnTo>
                  <a:lnTo>
                    <a:pt x="1752346" y="2983357"/>
                  </a:lnTo>
                  <a:lnTo>
                    <a:pt x="0" y="2983357"/>
                  </a:lnTo>
                  <a:lnTo>
                    <a:pt x="0" y="0"/>
                  </a:lnTo>
                  <a:close/>
                </a:path>
              </a:pathLst>
            </a:custGeom>
            <a:blipFill>
              <a:blip r:embed="rId3"/>
              <a:stretch>
                <a:fillRect l="0" t="-118" r="0" b="-117"/>
              </a:stretch>
            </a:blipFill>
          </p:spPr>
        </p:sp>
      </p:grpSp>
      <p:grpSp>
        <p:nvGrpSpPr>
          <p:cNvPr name="Group 10" id="10"/>
          <p:cNvGrpSpPr/>
          <p:nvPr/>
        </p:nvGrpSpPr>
        <p:grpSpPr>
          <a:xfrm rot="0">
            <a:off x="11227527" y="215532"/>
            <a:ext cx="6846341" cy="2211143"/>
            <a:chOff x="0" y="0"/>
            <a:chExt cx="9128455" cy="2948191"/>
          </a:xfrm>
        </p:grpSpPr>
        <p:sp>
          <p:nvSpPr>
            <p:cNvPr name="Freeform 11" id="11" descr="A picture containing text, clipart  Description automatically generated"/>
            <p:cNvSpPr/>
            <p:nvPr/>
          </p:nvSpPr>
          <p:spPr>
            <a:xfrm flipH="false" flipV="false" rot="0">
              <a:off x="0" y="0"/>
              <a:ext cx="9128506" cy="2948178"/>
            </a:xfrm>
            <a:custGeom>
              <a:avLst/>
              <a:gdLst/>
              <a:ahLst/>
              <a:cxnLst/>
              <a:rect r="r" b="b" t="t" l="l"/>
              <a:pathLst>
                <a:path h="2948178" w="9128506">
                  <a:moveTo>
                    <a:pt x="0" y="0"/>
                  </a:moveTo>
                  <a:lnTo>
                    <a:pt x="9128506" y="0"/>
                  </a:lnTo>
                  <a:lnTo>
                    <a:pt x="9128506" y="2948178"/>
                  </a:lnTo>
                  <a:lnTo>
                    <a:pt x="0" y="2948178"/>
                  </a:lnTo>
                  <a:lnTo>
                    <a:pt x="0" y="0"/>
                  </a:lnTo>
                  <a:close/>
                </a:path>
              </a:pathLst>
            </a:custGeom>
            <a:blipFill>
              <a:blip r:embed="rId2"/>
              <a:stretch>
                <a:fillRect l="0" t="-16502" r="0" b="-16503"/>
              </a:stretch>
            </a:blipFill>
          </p:spPr>
        </p:sp>
      </p:grpSp>
      <p:sp>
        <p:nvSpPr>
          <p:cNvPr name="TextBox 12" id="12"/>
          <p:cNvSpPr txBox="true"/>
          <p:nvPr/>
        </p:nvSpPr>
        <p:spPr>
          <a:xfrm rot="0">
            <a:off x="4783304" y="2255225"/>
            <a:ext cx="8727565" cy="1400175"/>
          </a:xfrm>
          <a:prstGeom prst="rect">
            <a:avLst/>
          </a:prstGeom>
        </p:spPr>
        <p:txBody>
          <a:bodyPr anchor="t" rtlCol="false" tIns="0" lIns="0" bIns="0" rIns="0">
            <a:spAutoFit/>
          </a:bodyPr>
          <a:lstStyle/>
          <a:p>
            <a:pPr algn="l">
              <a:lnSpc>
                <a:spcPts val="9720"/>
              </a:lnSpc>
            </a:pPr>
            <a:r>
              <a:rPr lang="en-US" sz="8100">
                <a:solidFill>
                  <a:srgbClr val="000000"/>
                </a:solidFill>
                <a:latin typeface="Calibri (MS)"/>
                <a:ea typeface="Calibri (MS)"/>
                <a:cs typeface="Calibri (MS)"/>
                <a:sym typeface="Calibri (MS)"/>
              </a:rPr>
              <a:t>Major/Minor Project</a:t>
            </a:r>
          </a:p>
        </p:txBody>
      </p:sp>
      <p:sp>
        <p:nvSpPr>
          <p:cNvPr name="TextBox 13" id="13"/>
          <p:cNvSpPr txBox="true"/>
          <p:nvPr/>
        </p:nvSpPr>
        <p:spPr>
          <a:xfrm rot="0">
            <a:off x="1197685" y="3800475"/>
            <a:ext cx="16070461" cy="1533525"/>
          </a:xfrm>
          <a:prstGeom prst="rect">
            <a:avLst/>
          </a:prstGeom>
        </p:spPr>
        <p:txBody>
          <a:bodyPr anchor="t" rtlCol="false" tIns="0" lIns="0" bIns="0" rIns="0">
            <a:spAutoFit/>
          </a:bodyPr>
          <a:lstStyle/>
          <a:p>
            <a:pPr algn="ctr">
              <a:lnSpc>
                <a:spcPts val="5759"/>
              </a:lnSpc>
            </a:pPr>
            <a:r>
              <a:rPr lang="en-US" sz="4800">
                <a:solidFill>
                  <a:srgbClr val="000000"/>
                </a:solidFill>
                <a:latin typeface="Calibri (MS)"/>
                <a:ea typeface="Calibri (MS)"/>
                <a:cs typeface="Calibri (MS)"/>
                <a:sym typeface="Calibri (MS)"/>
              </a:rPr>
              <a:t>Title: AI Based Tourism Pressure and Ecosystem Stress Prediction</a:t>
            </a:r>
          </a:p>
          <a:p>
            <a:pPr algn="ctr">
              <a:lnSpc>
                <a:spcPts val="5759"/>
              </a:lnSpc>
            </a:pPr>
            <a:r>
              <a:rPr lang="en-US" sz="4800">
                <a:solidFill>
                  <a:srgbClr val="000000"/>
                </a:solidFill>
                <a:latin typeface="Calibri (MS)"/>
                <a:ea typeface="Calibri (MS)"/>
                <a:cs typeface="Calibri (MS)"/>
                <a:sym typeface="Calibri (MS)"/>
              </a:rPr>
              <a:t>(Uttarakhand Char Dham)</a:t>
            </a:r>
          </a:p>
        </p:txBody>
      </p:sp>
      <p:sp>
        <p:nvSpPr>
          <p:cNvPr name="TextBox 14" id="14"/>
          <p:cNvSpPr txBox="true"/>
          <p:nvPr/>
        </p:nvSpPr>
        <p:spPr>
          <a:xfrm rot="0">
            <a:off x="548688" y="7493184"/>
            <a:ext cx="4578534" cy="1695450"/>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Presented by:</a:t>
            </a:r>
          </a:p>
          <a:p>
            <a:pPr algn="l">
              <a:lnSpc>
                <a:spcPts val="3240"/>
              </a:lnSpc>
            </a:pPr>
            <a:r>
              <a:rPr lang="en-US" sz="2700">
                <a:solidFill>
                  <a:srgbClr val="000000"/>
                </a:solidFill>
                <a:latin typeface="Calibri (MS)"/>
                <a:ea typeface="Calibri (MS)"/>
                <a:cs typeface="Calibri (MS)"/>
                <a:sym typeface="Calibri (MS)"/>
              </a:rPr>
              <a:t>R2142230152 - Sangam Khanna</a:t>
            </a:r>
          </a:p>
          <a:p>
            <a:pPr algn="l">
              <a:lnSpc>
                <a:spcPts val="3240"/>
              </a:lnSpc>
            </a:pPr>
            <a:r>
              <a:rPr lang="en-US" sz="2700">
                <a:solidFill>
                  <a:srgbClr val="000000"/>
                </a:solidFill>
                <a:latin typeface="Calibri (MS)"/>
                <a:ea typeface="Calibri (MS)"/>
                <a:cs typeface="Calibri (MS)"/>
                <a:sym typeface="Calibri (MS)"/>
              </a:rPr>
              <a:t>R2142230154 - Manan Nasa</a:t>
            </a:r>
          </a:p>
          <a:p>
            <a:pPr algn="l">
              <a:lnSpc>
                <a:spcPts val="3240"/>
              </a:lnSpc>
            </a:pPr>
          </a:p>
        </p:txBody>
      </p:sp>
      <p:sp>
        <p:nvSpPr>
          <p:cNvPr name="TextBox 15" id="15"/>
          <p:cNvSpPr txBox="true"/>
          <p:nvPr/>
        </p:nvSpPr>
        <p:spPr>
          <a:xfrm rot="0">
            <a:off x="13415553" y="7493184"/>
            <a:ext cx="3892734" cy="876300"/>
          </a:xfrm>
          <a:prstGeom prst="rect">
            <a:avLst/>
          </a:prstGeom>
        </p:spPr>
        <p:txBody>
          <a:bodyPr anchor="t" rtlCol="false" tIns="0" lIns="0" bIns="0" rIns="0">
            <a:spAutoFit/>
          </a:bodyPr>
          <a:lstStyle/>
          <a:p>
            <a:pPr algn="l">
              <a:lnSpc>
                <a:spcPts val="3240"/>
              </a:lnSpc>
            </a:pPr>
            <a:r>
              <a:rPr lang="en-US" sz="2700">
                <a:solidFill>
                  <a:srgbClr val="000000"/>
                </a:solidFill>
                <a:latin typeface="Calibri (MS)"/>
                <a:ea typeface="Calibri (MS)"/>
                <a:cs typeface="Calibri (MS)"/>
                <a:sym typeface="Calibri (MS)"/>
              </a:rPr>
              <a:t>Mentored By</a:t>
            </a:r>
          </a:p>
          <a:p>
            <a:pPr algn="l">
              <a:lnSpc>
                <a:spcPts val="3240"/>
              </a:lnSpc>
            </a:pPr>
            <a:r>
              <a:rPr lang="en-US" sz="2700" b="true">
                <a:solidFill>
                  <a:srgbClr val="000000"/>
                </a:solidFill>
                <a:latin typeface="Calibri (MS) Bold"/>
                <a:ea typeface="Calibri (MS) Bold"/>
                <a:cs typeface="Calibri (MS) Bold"/>
                <a:sym typeface="Calibri (MS) Bold"/>
              </a:rPr>
              <a:t>Dr. Sachi Choudhary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TextBox 6" id="6"/>
          <p:cNvSpPr txBox="true"/>
          <p:nvPr/>
        </p:nvSpPr>
        <p:spPr>
          <a:xfrm rot="0">
            <a:off x="580330" y="399612"/>
            <a:ext cx="11112665" cy="804777"/>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Content</a:t>
            </a:r>
          </a:p>
        </p:txBody>
      </p:sp>
      <p:sp>
        <p:nvSpPr>
          <p:cNvPr name="TextBox 7" id="7"/>
          <p:cNvSpPr txBox="true"/>
          <p:nvPr/>
        </p:nvSpPr>
        <p:spPr>
          <a:xfrm rot="0">
            <a:off x="1698174" y="1897694"/>
            <a:ext cx="6792687" cy="7334250"/>
          </a:xfrm>
          <a:prstGeom prst="rect">
            <a:avLst/>
          </a:prstGeom>
        </p:spPr>
        <p:txBody>
          <a:bodyPr anchor="t" rtlCol="false" tIns="0" lIns="0" bIns="0" rIns="0">
            <a:spAutoFit/>
          </a:bodyPr>
          <a:lstStyle/>
          <a:p>
            <a:pPr algn="l">
              <a:lnSpc>
                <a:spcPts val="3600"/>
              </a:lnSpc>
            </a:pPr>
            <a:r>
              <a:rPr lang="en-US" sz="3000">
                <a:solidFill>
                  <a:srgbClr val="000000"/>
                </a:solidFill>
                <a:latin typeface="Arial"/>
                <a:ea typeface="Arial"/>
                <a:cs typeface="Arial"/>
                <a:sym typeface="Arial"/>
              </a:rPr>
              <a:t>Introduction</a:t>
            </a:r>
          </a:p>
          <a:p>
            <a:pPr algn="l">
              <a:lnSpc>
                <a:spcPts val="3600"/>
              </a:lnSpc>
            </a:pPr>
          </a:p>
          <a:p>
            <a:pPr algn="l">
              <a:lnSpc>
                <a:spcPts val="3600"/>
              </a:lnSpc>
            </a:pPr>
            <a:r>
              <a:rPr lang="en-US" sz="3000">
                <a:solidFill>
                  <a:srgbClr val="000000"/>
                </a:solidFill>
                <a:latin typeface="Arial"/>
                <a:ea typeface="Arial"/>
                <a:cs typeface="Arial"/>
                <a:sym typeface="Arial"/>
              </a:rPr>
              <a:t>Literature Review</a:t>
            </a:r>
          </a:p>
          <a:p>
            <a:pPr algn="l">
              <a:lnSpc>
                <a:spcPts val="3600"/>
              </a:lnSpc>
            </a:pPr>
          </a:p>
          <a:p>
            <a:pPr algn="l">
              <a:lnSpc>
                <a:spcPts val="3600"/>
              </a:lnSpc>
            </a:pPr>
            <a:r>
              <a:rPr lang="en-US" sz="3000">
                <a:solidFill>
                  <a:srgbClr val="000000"/>
                </a:solidFill>
                <a:latin typeface="Arial"/>
                <a:ea typeface="Arial"/>
                <a:cs typeface="Arial"/>
                <a:sym typeface="Arial"/>
              </a:rPr>
              <a:t>Objectives</a:t>
            </a:r>
          </a:p>
          <a:p>
            <a:pPr algn="l">
              <a:lnSpc>
                <a:spcPts val="3600"/>
              </a:lnSpc>
            </a:pPr>
          </a:p>
          <a:p>
            <a:pPr algn="l">
              <a:lnSpc>
                <a:spcPts val="3600"/>
              </a:lnSpc>
            </a:pPr>
            <a:r>
              <a:rPr lang="en-US" sz="3000">
                <a:solidFill>
                  <a:srgbClr val="000000"/>
                </a:solidFill>
                <a:latin typeface="Arial"/>
                <a:ea typeface="Arial"/>
                <a:cs typeface="Arial"/>
                <a:sym typeface="Arial"/>
              </a:rPr>
              <a:t>Methodology</a:t>
            </a:r>
          </a:p>
          <a:p>
            <a:pPr algn="l">
              <a:lnSpc>
                <a:spcPts val="3600"/>
              </a:lnSpc>
            </a:pPr>
          </a:p>
          <a:p>
            <a:pPr algn="l">
              <a:lnSpc>
                <a:spcPts val="3600"/>
              </a:lnSpc>
            </a:pPr>
            <a:r>
              <a:rPr lang="en-US" sz="3000">
                <a:solidFill>
                  <a:srgbClr val="000000"/>
                </a:solidFill>
                <a:latin typeface="Arial"/>
                <a:ea typeface="Arial"/>
                <a:cs typeface="Arial"/>
                <a:sym typeface="Arial"/>
              </a:rPr>
              <a:t>Working Model</a:t>
            </a:r>
          </a:p>
          <a:p>
            <a:pPr algn="l">
              <a:lnSpc>
                <a:spcPts val="3600"/>
              </a:lnSpc>
            </a:pPr>
          </a:p>
          <a:p>
            <a:pPr algn="l">
              <a:lnSpc>
                <a:spcPts val="3600"/>
              </a:lnSpc>
            </a:pPr>
            <a:r>
              <a:rPr lang="en-US" sz="3000">
                <a:solidFill>
                  <a:srgbClr val="000000"/>
                </a:solidFill>
                <a:latin typeface="Arial"/>
                <a:ea typeface="Arial"/>
                <a:cs typeface="Arial"/>
                <a:sym typeface="Arial"/>
              </a:rPr>
              <a:t>Results</a:t>
            </a:r>
          </a:p>
          <a:p>
            <a:pPr algn="l">
              <a:lnSpc>
                <a:spcPts val="3600"/>
              </a:lnSpc>
            </a:pPr>
          </a:p>
          <a:p>
            <a:pPr algn="l">
              <a:lnSpc>
                <a:spcPts val="3600"/>
              </a:lnSpc>
            </a:pPr>
            <a:r>
              <a:rPr lang="en-US" sz="3000">
                <a:solidFill>
                  <a:srgbClr val="000000"/>
                </a:solidFill>
                <a:latin typeface="Arial"/>
                <a:ea typeface="Arial"/>
                <a:cs typeface="Arial"/>
                <a:sym typeface="Arial"/>
              </a:rPr>
              <a:t>Conclusion</a:t>
            </a:r>
          </a:p>
          <a:p>
            <a:pPr algn="l">
              <a:lnSpc>
                <a:spcPts val="3600"/>
              </a:lnSpc>
            </a:pPr>
          </a:p>
          <a:p>
            <a:pPr algn="l">
              <a:lnSpc>
                <a:spcPts val="3600"/>
              </a:lnSpc>
            </a:pPr>
            <a:r>
              <a:rPr lang="en-US" sz="3000">
                <a:solidFill>
                  <a:srgbClr val="000000"/>
                </a:solidFill>
                <a:latin typeface="Arial"/>
                <a:ea typeface="Arial"/>
                <a:cs typeface="Arial"/>
                <a:sym typeface="Arial"/>
              </a:rPr>
              <a:t>References </a:t>
            </a:r>
          </a:p>
          <a:p>
            <a:pPr algn="l">
              <a:lnSpc>
                <a:spcPts val="3600"/>
              </a:lnSpc>
            </a:pPr>
          </a:p>
        </p:txBody>
      </p:sp>
      <p:sp>
        <p:nvSpPr>
          <p:cNvPr name="TextBox 8" id="8"/>
          <p:cNvSpPr txBox="true"/>
          <p:nvPr/>
        </p:nvSpPr>
        <p:spPr>
          <a:xfrm rot="0">
            <a:off x="11514906" y="8002905"/>
            <a:ext cx="6250581" cy="1599133"/>
          </a:xfrm>
          <a:prstGeom prst="rect">
            <a:avLst/>
          </a:prstGeom>
        </p:spPr>
        <p:txBody>
          <a:bodyPr anchor="t" rtlCol="false" tIns="0" lIns="0" bIns="0" rIns="0">
            <a:spAutoFit/>
          </a:bodyPr>
          <a:lstStyle/>
          <a:p>
            <a:pPr algn="l">
              <a:lnSpc>
                <a:spcPts val="1980"/>
              </a:lnSpc>
            </a:pPr>
            <a:r>
              <a:rPr lang="en-US" sz="1650" b="true">
                <a:solidFill>
                  <a:srgbClr val="000000"/>
                </a:solidFill>
                <a:latin typeface="Calibri (MS) Bold"/>
                <a:ea typeface="Calibri (MS) Bold"/>
                <a:cs typeface="Calibri (MS) Bold"/>
                <a:sym typeface="Calibri (MS) Bold"/>
              </a:rPr>
              <a:t>Colour Code:</a:t>
            </a:r>
          </a:p>
          <a:p>
            <a:pPr algn="l">
              <a:lnSpc>
                <a:spcPts val="1980"/>
              </a:lnSpc>
            </a:pPr>
            <a:r>
              <a:rPr lang="en-US" sz="1650">
                <a:solidFill>
                  <a:srgbClr val="000000"/>
                </a:solidFill>
                <a:latin typeface="Calibri (MS)"/>
                <a:ea typeface="Calibri (MS)"/>
                <a:cs typeface="Calibri (MS)"/>
                <a:sym typeface="Calibri (MS)"/>
              </a:rPr>
              <a:t>Synopsis:  </a:t>
            </a:r>
            <a:r>
              <a:rPr lang="en-US" sz="1650">
                <a:solidFill>
                  <a:srgbClr val="FF0000"/>
                </a:solidFill>
                <a:latin typeface="Calibri (MS)"/>
                <a:ea typeface="Calibri (MS)"/>
                <a:cs typeface="Calibri (MS)"/>
                <a:sym typeface="Calibri (MS)"/>
              </a:rPr>
              <a:t>Red</a:t>
            </a:r>
          </a:p>
          <a:p>
            <a:pPr algn="l">
              <a:lnSpc>
                <a:spcPts val="1980"/>
              </a:lnSpc>
            </a:pPr>
            <a:r>
              <a:rPr lang="en-US" sz="1650">
                <a:solidFill>
                  <a:srgbClr val="000000"/>
                </a:solidFill>
                <a:latin typeface="Calibri (MS)"/>
                <a:ea typeface="Calibri (MS)"/>
                <a:cs typeface="Calibri (MS)"/>
                <a:sym typeface="Calibri (MS)"/>
              </a:rPr>
              <a:t>Mid term: </a:t>
            </a:r>
            <a:r>
              <a:rPr lang="en-US" sz="1650">
                <a:solidFill>
                  <a:srgbClr val="ED7D31"/>
                </a:solidFill>
                <a:latin typeface="Calibri (MS)"/>
                <a:ea typeface="Calibri (MS)"/>
                <a:cs typeface="Calibri (MS)"/>
                <a:sym typeface="Calibri (MS)"/>
              </a:rPr>
              <a:t>Orange</a:t>
            </a:r>
          </a:p>
          <a:p>
            <a:pPr algn="l">
              <a:lnSpc>
                <a:spcPts val="1980"/>
              </a:lnSpc>
            </a:pPr>
            <a:r>
              <a:rPr lang="en-US" sz="1650">
                <a:solidFill>
                  <a:srgbClr val="000000"/>
                </a:solidFill>
                <a:latin typeface="Calibri (MS)"/>
                <a:ea typeface="Calibri (MS)"/>
                <a:cs typeface="Calibri (MS)"/>
                <a:sym typeface="Calibri (MS)"/>
              </a:rPr>
              <a:t>End Term: </a:t>
            </a:r>
            <a:r>
              <a:rPr lang="en-US" sz="1650">
                <a:solidFill>
                  <a:srgbClr val="AE36FF"/>
                </a:solidFill>
                <a:latin typeface="Calibri (MS)"/>
                <a:ea typeface="Calibri (MS)"/>
                <a:cs typeface="Calibri (MS)"/>
                <a:sym typeface="Calibri (MS)"/>
              </a:rPr>
              <a:t>Purple</a:t>
            </a:r>
          </a:p>
          <a:p>
            <a:pPr algn="r">
              <a:lnSpc>
                <a:spcPts val="1980"/>
              </a:lnSpc>
            </a:pPr>
            <a:r>
              <a:rPr lang="en-US" sz="1650" b="true">
                <a:solidFill>
                  <a:srgbClr val="000000"/>
                </a:solidFill>
                <a:latin typeface="Calibri (MS) Bold"/>
                <a:ea typeface="Calibri (MS) Bold"/>
                <a:cs typeface="Calibri (MS) Bold"/>
                <a:sym typeface="Calibri (MS) Bold"/>
              </a:rPr>
              <a:t>Note: The Following presentation will have all the content of the later.</a:t>
            </a:r>
          </a:p>
          <a:p>
            <a:pPr algn="l">
              <a:lnSpc>
                <a:spcPts val="198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TextBox 6" id="6"/>
          <p:cNvSpPr txBox="true"/>
          <p:nvPr/>
        </p:nvSpPr>
        <p:spPr>
          <a:xfrm rot="0">
            <a:off x="1408509" y="1259502"/>
            <a:ext cx="14668624" cy="5381625"/>
          </a:xfrm>
          <a:prstGeom prst="rect">
            <a:avLst/>
          </a:prstGeom>
        </p:spPr>
        <p:txBody>
          <a:bodyPr anchor="t" rtlCol="false" tIns="0" lIns="0" bIns="0" rIns="0">
            <a:spAutoFit/>
          </a:bodyPr>
          <a:lstStyle/>
          <a:p>
            <a:pPr algn="l" marL="582930" indent="-291465" lvl="1">
              <a:lnSpc>
                <a:spcPts val="3240"/>
              </a:lnSpc>
              <a:buFont typeface="Arial"/>
              <a:buChar char="•"/>
            </a:pPr>
            <a:r>
              <a:rPr lang="en-US" sz="2700">
                <a:solidFill>
                  <a:srgbClr val="000000"/>
                </a:solidFill>
                <a:latin typeface="Calibri (MS)"/>
                <a:ea typeface="Calibri (MS)"/>
                <a:cs typeface="Calibri (MS)"/>
                <a:sym typeface="Calibri (MS)"/>
              </a:rPr>
              <a:t>Tourism plays a significant role in the economy of Uttarakhand, particularly in the Char Dham region comprising Kedarnath, Badrinath, Gangotri, and Yamunotri. Every year, heavy seasonal pilgrimage leads to a sudden surge in visitor numbers, placing immense pressure on the fragile Himalayan ecosystem. This rapid increase in tourism contributes to environmental challenges such as deforestation, excessive waste generation, water overuse, land-use changes, and climate-related impacts. Managing this pressure in a sustainable manner has become increasingly important. </a:t>
            </a:r>
          </a:p>
          <a:p>
            <a:pPr algn="l">
              <a:lnSpc>
                <a:spcPts val="3240"/>
              </a:lnSpc>
            </a:pPr>
          </a:p>
          <a:p>
            <a:pPr algn="l" marL="582930" indent="-291465" lvl="1">
              <a:lnSpc>
                <a:spcPts val="3240"/>
              </a:lnSpc>
              <a:buFont typeface="Arial"/>
              <a:buChar char="•"/>
            </a:pPr>
            <a:r>
              <a:rPr lang="en-US" sz="2700">
                <a:solidFill>
                  <a:srgbClr val="000000"/>
                </a:solidFill>
                <a:latin typeface="Calibri (MS)"/>
                <a:ea typeface="Calibri (MS)"/>
                <a:cs typeface="Calibri (MS)"/>
                <a:sym typeface="Calibri (MS)"/>
              </a:rPr>
              <a:t>This project aims to develop an AI-based model to analyze and predict ecosystem stress caused by tourism activities. By integrating tourism statistics, satellite imagery, and climate data, the system applies time-series forecasting, regression techniques, and GIS analysis to identify tourism thresholds and assess environmental risk levels. The ultimate goal is to support data-driven decision-making and promote sustainable tourism planning in the Char Dham region.</a:t>
            </a:r>
          </a:p>
          <a:p>
            <a:pPr algn="l">
              <a:lnSpc>
                <a:spcPts val="3240"/>
              </a:lnSpc>
            </a:pPr>
          </a:p>
        </p:txBody>
      </p:sp>
      <p:sp>
        <p:nvSpPr>
          <p:cNvPr name="Freeform 7" id="7"/>
          <p:cNvSpPr/>
          <p:nvPr/>
        </p:nvSpPr>
        <p:spPr>
          <a:xfrm flipH="false" flipV="false" rot="0">
            <a:off x="1996517" y="6641127"/>
            <a:ext cx="4784333" cy="3193542"/>
          </a:xfrm>
          <a:custGeom>
            <a:avLst/>
            <a:gdLst/>
            <a:ahLst/>
            <a:cxnLst/>
            <a:rect r="r" b="b" t="t" l="l"/>
            <a:pathLst>
              <a:path h="3193542" w="4784333">
                <a:moveTo>
                  <a:pt x="0" y="0"/>
                </a:moveTo>
                <a:lnTo>
                  <a:pt x="4784332" y="0"/>
                </a:lnTo>
                <a:lnTo>
                  <a:pt x="4784332" y="3193542"/>
                </a:lnTo>
                <a:lnTo>
                  <a:pt x="0" y="3193542"/>
                </a:lnTo>
                <a:lnTo>
                  <a:pt x="0" y="0"/>
                </a:lnTo>
                <a:close/>
              </a:path>
            </a:pathLst>
          </a:custGeom>
          <a:blipFill>
            <a:blip r:embed="rId3"/>
            <a:stretch>
              <a:fillRect l="0" t="0" r="0" b="0"/>
            </a:stretch>
          </a:blipFill>
        </p:spPr>
      </p:sp>
      <p:sp>
        <p:nvSpPr>
          <p:cNvPr name="Freeform 8" id="8"/>
          <p:cNvSpPr/>
          <p:nvPr/>
        </p:nvSpPr>
        <p:spPr>
          <a:xfrm flipH="false" flipV="false" rot="0">
            <a:off x="6926647" y="6641127"/>
            <a:ext cx="4793309" cy="3193542"/>
          </a:xfrm>
          <a:custGeom>
            <a:avLst/>
            <a:gdLst/>
            <a:ahLst/>
            <a:cxnLst/>
            <a:rect r="r" b="b" t="t" l="l"/>
            <a:pathLst>
              <a:path h="3193542" w="4793309">
                <a:moveTo>
                  <a:pt x="0" y="0"/>
                </a:moveTo>
                <a:lnTo>
                  <a:pt x="4793309" y="0"/>
                </a:lnTo>
                <a:lnTo>
                  <a:pt x="4793309" y="3193542"/>
                </a:lnTo>
                <a:lnTo>
                  <a:pt x="0" y="3193542"/>
                </a:lnTo>
                <a:lnTo>
                  <a:pt x="0" y="0"/>
                </a:lnTo>
                <a:close/>
              </a:path>
            </a:pathLst>
          </a:custGeom>
          <a:blipFill>
            <a:blip r:embed="rId4"/>
            <a:stretch>
              <a:fillRect l="0" t="0" r="0" b="0"/>
            </a:stretch>
          </a:blipFill>
        </p:spPr>
      </p:sp>
      <p:sp>
        <p:nvSpPr>
          <p:cNvPr name="Freeform 9" id="9"/>
          <p:cNvSpPr/>
          <p:nvPr/>
        </p:nvSpPr>
        <p:spPr>
          <a:xfrm flipH="false" flipV="false" rot="0">
            <a:off x="11862831" y="6659579"/>
            <a:ext cx="5226486" cy="3175090"/>
          </a:xfrm>
          <a:custGeom>
            <a:avLst/>
            <a:gdLst/>
            <a:ahLst/>
            <a:cxnLst/>
            <a:rect r="r" b="b" t="t" l="l"/>
            <a:pathLst>
              <a:path h="3175090" w="5226486">
                <a:moveTo>
                  <a:pt x="0" y="0"/>
                </a:moveTo>
                <a:lnTo>
                  <a:pt x="5226486" y="0"/>
                </a:lnTo>
                <a:lnTo>
                  <a:pt x="5226486" y="3175090"/>
                </a:lnTo>
                <a:lnTo>
                  <a:pt x="0" y="3175090"/>
                </a:lnTo>
                <a:lnTo>
                  <a:pt x="0" y="0"/>
                </a:lnTo>
                <a:close/>
              </a:path>
            </a:pathLst>
          </a:custGeom>
          <a:blipFill>
            <a:blip r:embed="rId5"/>
            <a:stretch>
              <a:fillRect l="0" t="0" r="0" b="0"/>
            </a:stretch>
          </a:blipFill>
        </p:spPr>
      </p:sp>
      <p:sp>
        <p:nvSpPr>
          <p:cNvPr name="TextBox 10" id="10"/>
          <p:cNvSpPr txBox="true"/>
          <p:nvPr/>
        </p:nvSpPr>
        <p:spPr>
          <a:xfrm rot="0">
            <a:off x="580330" y="360416"/>
            <a:ext cx="11112665" cy="804777"/>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Freeform 6" id="6"/>
          <p:cNvSpPr/>
          <p:nvPr/>
        </p:nvSpPr>
        <p:spPr>
          <a:xfrm flipH="false" flipV="false" rot="0">
            <a:off x="1511383" y="6987273"/>
            <a:ext cx="2625939" cy="2625939"/>
          </a:xfrm>
          <a:custGeom>
            <a:avLst/>
            <a:gdLst/>
            <a:ahLst/>
            <a:cxnLst/>
            <a:rect r="r" b="b" t="t" l="l"/>
            <a:pathLst>
              <a:path h="2625939" w="2625939">
                <a:moveTo>
                  <a:pt x="0" y="0"/>
                </a:moveTo>
                <a:lnTo>
                  <a:pt x="2625939" y="0"/>
                </a:lnTo>
                <a:lnTo>
                  <a:pt x="2625939" y="2625938"/>
                </a:lnTo>
                <a:lnTo>
                  <a:pt x="0" y="2625938"/>
                </a:lnTo>
                <a:lnTo>
                  <a:pt x="0" y="0"/>
                </a:lnTo>
                <a:close/>
              </a:path>
            </a:pathLst>
          </a:custGeom>
          <a:blipFill>
            <a:blip r:embed="rId3"/>
            <a:stretch>
              <a:fillRect l="0" t="0" r="0" b="0"/>
            </a:stretch>
          </a:blipFill>
        </p:spPr>
      </p:sp>
      <p:sp>
        <p:nvSpPr>
          <p:cNvPr name="Freeform 7" id="7"/>
          <p:cNvSpPr/>
          <p:nvPr/>
        </p:nvSpPr>
        <p:spPr>
          <a:xfrm flipH="false" flipV="false" rot="0">
            <a:off x="5690221" y="6987273"/>
            <a:ext cx="2625939" cy="2625939"/>
          </a:xfrm>
          <a:custGeom>
            <a:avLst/>
            <a:gdLst/>
            <a:ahLst/>
            <a:cxnLst/>
            <a:rect r="r" b="b" t="t" l="l"/>
            <a:pathLst>
              <a:path h="2625939" w="2625939">
                <a:moveTo>
                  <a:pt x="0" y="0"/>
                </a:moveTo>
                <a:lnTo>
                  <a:pt x="2625939" y="0"/>
                </a:lnTo>
                <a:lnTo>
                  <a:pt x="2625939" y="2625938"/>
                </a:lnTo>
                <a:lnTo>
                  <a:pt x="0" y="2625938"/>
                </a:lnTo>
                <a:lnTo>
                  <a:pt x="0" y="0"/>
                </a:lnTo>
                <a:close/>
              </a:path>
            </a:pathLst>
          </a:custGeom>
          <a:blipFill>
            <a:blip r:embed="rId4"/>
            <a:stretch>
              <a:fillRect l="0" t="0" r="0" b="0"/>
            </a:stretch>
          </a:blipFill>
        </p:spPr>
      </p:sp>
      <p:sp>
        <p:nvSpPr>
          <p:cNvPr name="Freeform 8" id="8"/>
          <p:cNvSpPr/>
          <p:nvPr/>
        </p:nvSpPr>
        <p:spPr>
          <a:xfrm flipH="false" flipV="false" rot="0">
            <a:off x="9712114" y="6987273"/>
            <a:ext cx="2625939" cy="2625939"/>
          </a:xfrm>
          <a:custGeom>
            <a:avLst/>
            <a:gdLst/>
            <a:ahLst/>
            <a:cxnLst/>
            <a:rect r="r" b="b" t="t" l="l"/>
            <a:pathLst>
              <a:path h="2625939" w="2625939">
                <a:moveTo>
                  <a:pt x="0" y="0"/>
                </a:moveTo>
                <a:lnTo>
                  <a:pt x="2625939" y="0"/>
                </a:lnTo>
                <a:lnTo>
                  <a:pt x="2625939" y="2625938"/>
                </a:lnTo>
                <a:lnTo>
                  <a:pt x="0" y="2625938"/>
                </a:lnTo>
                <a:lnTo>
                  <a:pt x="0" y="0"/>
                </a:lnTo>
                <a:close/>
              </a:path>
            </a:pathLst>
          </a:custGeom>
          <a:blipFill>
            <a:blip r:embed="rId5"/>
            <a:stretch>
              <a:fillRect l="0" t="0" r="0" b="0"/>
            </a:stretch>
          </a:blipFill>
        </p:spPr>
      </p:sp>
      <p:sp>
        <p:nvSpPr>
          <p:cNvPr name="Freeform 9" id="9"/>
          <p:cNvSpPr/>
          <p:nvPr/>
        </p:nvSpPr>
        <p:spPr>
          <a:xfrm flipH="false" flipV="false" rot="0">
            <a:off x="13389007" y="6987273"/>
            <a:ext cx="2688127" cy="2625939"/>
          </a:xfrm>
          <a:custGeom>
            <a:avLst/>
            <a:gdLst/>
            <a:ahLst/>
            <a:cxnLst/>
            <a:rect r="r" b="b" t="t" l="l"/>
            <a:pathLst>
              <a:path h="2625939" w="2688127">
                <a:moveTo>
                  <a:pt x="0" y="0"/>
                </a:moveTo>
                <a:lnTo>
                  <a:pt x="2688126" y="0"/>
                </a:lnTo>
                <a:lnTo>
                  <a:pt x="2688126" y="2625938"/>
                </a:lnTo>
                <a:lnTo>
                  <a:pt x="0" y="2625938"/>
                </a:lnTo>
                <a:lnTo>
                  <a:pt x="0" y="0"/>
                </a:lnTo>
                <a:close/>
              </a:path>
            </a:pathLst>
          </a:custGeom>
          <a:blipFill>
            <a:blip r:embed="rId6"/>
            <a:stretch>
              <a:fillRect l="-35232" t="0" r="-38495" b="0"/>
            </a:stretch>
          </a:blipFill>
        </p:spPr>
      </p:sp>
      <p:sp>
        <p:nvSpPr>
          <p:cNvPr name="TextBox 10" id="10"/>
          <p:cNvSpPr txBox="true"/>
          <p:nvPr/>
        </p:nvSpPr>
        <p:spPr>
          <a:xfrm rot="0">
            <a:off x="580330" y="360416"/>
            <a:ext cx="7113984" cy="742950"/>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Technical Cocepts USed</a:t>
            </a:r>
          </a:p>
        </p:txBody>
      </p:sp>
      <p:sp>
        <p:nvSpPr>
          <p:cNvPr name="TextBox 11" id="11"/>
          <p:cNvSpPr txBox="true"/>
          <p:nvPr/>
        </p:nvSpPr>
        <p:spPr>
          <a:xfrm rot="0">
            <a:off x="1173614" y="1383138"/>
            <a:ext cx="14571068" cy="50482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Arial"/>
                <a:ea typeface="Arial"/>
                <a:cs typeface="Arial"/>
                <a:sym typeface="Arial"/>
              </a:rPr>
              <a:t>The project combines data analytics, machine learning, and visualization technologies.</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Key technologies used:</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 Python – Core programming language</a:t>
            </a:r>
          </a:p>
          <a:p>
            <a:pPr algn="l">
              <a:lnSpc>
                <a:spcPts val="3600"/>
              </a:lnSpc>
              <a:spcBef>
                <a:spcPct val="0"/>
              </a:spcBef>
            </a:pPr>
            <a:r>
              <a:rPr lang="en-US" sz="3000">
                <a:solidFill>
                  <a:srgbClr val="000000"/>
                </a:solidFill>
                <a:latin typeface="Arial"/>
                <a:ea typeface="Arial"/>
                <a:cs typeface="Arial"/>
                <a:sym typeface="Arial"/>
              </a:rPr>
              <a:t>• Pandas – Data processing and cleaning</a:t>
            </a:r>
          </a:p>
          <a:p>
            <a:pPr algn="l">
              <a:lnSpc>
                <a:spcPts val="3600"/>
              </a:lnSpc>
              <a:spcBef>
                <a:spcPct val="0"/>
              </a:spcBef>
            </a:pPr>
            <a:r>
              <a:rPr lang="en-US" sz="3000">
                <a:solidFill>
                  <a:srgbClr val="000000"/>
                </a:solidFill>
                <a:latin typeface="Arial"/>
                <a:ea typeface="Arial"/>
                <a:cs typeface="Arial"/>
                <a:sym typeface="Arial"/>
              </a:rPr>
              <a:t>• Streamlit – Interactive dashboard development</a:t>
            </a:r>
          </a:p>
          <a:p>
            <a:pPr algn="l">
              <a:lnSpc>
                <a:spcPts val="3600"/>
              </a:lnSpc>
              <a:spcBef>
                <a:spcPct val="0"/>
              </a:spcBef>
            </a:pPr>
            <a:r>
              <a:rPr lang="en-US" sz="3000">
                <a:solidFill>
                  <a:srgbClr val="000000"/>
                </a:solidFill>
                <a:latin typeface="Arial"/>
                <a:ea typeface="Arial"/>
                <a:cs typeface="Arial"/>
                <a:sym typeface="Arial"/>
              </a:rPr>
              <a:t>• Plotly – Advanced data visualization</a:t>
            </a:r>
          </a:p>
          <a:p>
            <a:pPr algn="l">
              <a:lnSpc>
                <a:spcPts val="3600"/>
              </a:lnSpc>
              <a:spcBef>
                <a:spcPct val="0"/>
              </a:spcBef>
            </a:pPr>
            <a:r>
              <a:rPr lang="en-US" sz="3000">
                <a:solidFill>
                  <a:srgbClr val="000000"/>
                </a:solidFill>
                <a:latin typeface="Arial"/>
                <a:ea typeface="Arial"/>
                <a:cs typeface="Arial"/>
                <a:sym typeface="Arial"/>
              </a:rPr>
              <a:t>• Random Forest Regressor – Climate-based prediction model</a:t>
            </a:r>
          </a:p>
          <a:p>
            <a:pPr algn="l">
              <a:lnSpc>
                <a:spcPts val="3600"/>
              </a:lnSpc>
              <a:spcBef>
                <a:spcPct val="0"/>
              </a:spcBef>
            </a:pPr>
            <a:r>
              <a:rPr lang="en-US" sz="3000">
                <a:solidFill>
                  <a:srgbClr val="000000"/>
                </a:solidFill>
                <a:latin typeface="Arial"/>
                <a:ea typeface="Arial"/>
                <a:cs typeface="Arial"/>
                <a:sym typeface="Arial"/>
              </a:rPr>
              <a:t>• ARIMA Time Series Model – Forecasting future tourist trends</a:t>
            </a:r>
          </a:p>
          <a:p>
            <a:pPr algn="l">
              <a:lnSpc>
                <a:spcPts val="3600"/>
              </a:lnSpc>
              <a:spcBef>
                <a:spcPct val="0"/>
              </a:spcBef>
            </a:pPr>
            <a:r>
              <a:rPr lang="en-US" sz="3000">
                <a:solidFill>
                  <a:srgbClr val="000000"/>
                </a:solidFill>
                <a:latin typeface="Arial"/>
                <a:ea typeface="Arial"/>
                <a:cs typeface="Arial"/>
                <a:sym typeface="Arial"/>
              </a:rPr>
              <a:t>• SHAP Explainability – Interpreting machine learning predictions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TextBox 6" id="6"/>
          <p:cNvSpPr txBox="true"/>
          <p:nvPr/>
        </p:nvSpPr>
        <p:spPr>
          <a:xfrm rot="0">
            <a:off x="443170" y="399612"/>
            <a:ext cx="11112665" cy="804777"/>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Literature Review</a:t>
            </a:r>
          </a:p>
        </p:txBody>
      </p:sp>
      <p:sp>
        <p:nvSpPr>
          <p:cNvPr name="TextBox 7" id="7"/>
          <p:cNvSpPr txBox="true"/>
          <p:nvPr/>
        </p:nvSpPr>
        <p:spPr>
          <a:xfrm rot="0">
            <a:off x="822217" y="1284212"/>
            <a:ext cx="15704114" cy="4133850"/>
          </a:xfrm>
          <a:prstGeom prst="rect">
            <a:avLst/>
          </a:prstGeom>
        </p:spPr>
        <p:txBody>
          <a:bodyPr anchor="t" rtlCol="false" tIns="0" lIns="0" bIns="0" rIns="0">
            <a:spAutoFit/>
          </a:bodyPr>
          <a:lstStyle/>
          <a:p>
            <a:pPr algn="l">
              <a:lnSpc>
                <a:spcPts val="3600"/>
              </a:lnSpc>
              <a:spcBef>
                <a:spcPct val="0"/>
              </a:spcBef>
            </a:pPr>
            <a:r>
              <a:rPr lang="en-US" b="true" sz="3000">
                <a:solidFill>
                  <a:srgbClr val="000000"/>
                </a:solidFill>
                <a:latin typeface="Arial Bold"/>
                <a:ea typeface="Arial Bold"/>
                <a:cs typeface="Arial Bold"/>
                <a:sym typeface="Arial Bold"/>
              </a:rPr>
              <a:t>Inference from Literature</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From previous research we observe:</a:t>
            </a:r>
          </a:p>
          <a:p>
            <a:pPr algn="l">
              <a:lnSpc>
                <a:spcPts val="3600"/>
              </a:lnSpc>
              <a:spcBef>
                <a:spcPct val="0"/>
              </a:spcBef>
            </a:pPr>
            <a:r>
              <a:rPr lang="en-US" sz="3000">
                <a:solidFill>
                  <a:srgbClr val="000000"/>
                </a:solidFill>
                <a:latin typeface="Arial"/>
                <a:ea typeface="Arial"/>
                <a:cs typeface="Arial"/>
                <a:sym typeface="Arial"/>
              </a:rPr>
              <a:t>• Tourism demand forecasting can help manage overcrowding.</a:t>
            </a:r>
          </a:p>
          <a:p>
            <a:pPr algn="l">
              <a:lnSpc>
                <a:spcPts val="3600"/>
              </a:lnSpc>
              <a:spcBef>
                <a:spcPct val="0"/>
              </a:spcBef>
            </a:pPr>
            <a:r>
              <a:rPr lang="en-US" sz="3000">
                <a:solidFill>
                  <a:srgbClr val="000000"/>
                </a:solidFill>
                <a:latin typeface="Arial"/>
                <a:ea typeface="Arial"/>
                <a:cs typeface="Arial"/>
                <a:sym typeface="Arial"/>
              </a:rPr>
              <a:t> • Climate variables significantly influence tourist behavior.</a:t>
            </a:r>
          </a:p>
          <a:p>
            <a:pPr algn="l">
              <a:lnSpc>
                <a:spcPts val="3600"/>
              </a:lnSpc>
              <a:spcBef>
                <a:spcPct val="0"/>
              </a:spcBef>
            </a:pPr>
            <a:r>
              <a:rPr lang="en-US" sz="3000">
                <a:solidFill>
                  <a:srgbClr val="000000"/>
                </a:solidFill>
                <a:latin typeface="Arial"/>
                <a:ea typeface="Arial"/>
                <a:cs typeface="Arial"/>
                <a:sym typeface="Arial"/>
              </a:rPr>
              <a:t> • Environmental monitoring is essential in fragile ecosystems.</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However, most existing systems do not integrate tourism data, climate data, and AI prediction together in a single dashboard.</a:t>
            </a:r>
          </a:p>
        </p:txBody>
      </p:sp>
      <p:sp>
        <p:nvSpPr>
          <p:cNvPr name="TextBox 8" id="8"/>
          <p:cNvSpPr txBox="true"/>
          <p:nvPr/>
        </p:nvSpPr>
        <p:spPr>
          <a:xfrm rot="0">
            <a:off x="822217" y="5889292"/>
            <a:ext cx="16674322" cy="3670293"/>
          </a:xfrm>
          <a:prstGeom prst="rect">
            <a:avLst/>
          </a:prstGeom>
        </p:spPr>
        <p:txBody>
          <a:bodyPr anchor="t" rtlCol="false" tIns="0" lIns="0" bIns="0" rIns="0">
            <a:spAutoFit/>
          </a:bodyPr>
          <a:lstStyle/>
          <a:p>
            <a:pPr algn="l">
              <a:lnSpc>
                <a:spcPts val="3000"/>
              </a:lnSpc>
              <a:spcBef>
                <a:spcPct val="0"/>
              </a:spcBef>
            </a:pPr>
            <a:r>
              <a:rPr lang="en-US" sz="2500" u="sng">
                <a:solidFill>
                  <a:srgbClr val="000000"/>
                </a:solidFill>
                <a:latin typeface="Arial"/>
                <a:ea typeface="Arial"/>
                <a:cs typeface="Arial"/>
                <a:sym typeface="Arial"/>
              </a:rPr>
              <a:t>1) </a:t>
            </a:r>
            <a:r>
              <a:rPr lang="en-US" sz="2500" u="sng">
                <a:solidFill>
                  <a:srgbClr val="000000"/>
                </a:solidFill>
                <a:latin typeface="Arial"/>
                <a:ea typeface="Arial"/>
                <a:cs typeface="Arial"/>
                <a:sym typeface="Arial"/>
              </a:rPr>
              <a:t>Tourism Carrying Capacity Studies</a:t>
            </a:r>
          </a:p>
          <a:p>
            <a:pPr algn="l">
              <a:lnSpc>
                <a:spcPts val="3000"/>
              </a:lnSpc>
              <a:spcBef>
                <a:spcPct val="0"/>
              </a:spcBef>
            </a:pPr>
            <a:r>
              <a:rPr lang="en-US" sz="2500">
                <a:solidFill>
                  <a:srgbClr val="000000"/>
                </a:solidFill>
                <a:latin typeface="Arial"/>
                <a:ea typeface="Arial"/>
                <a:cs typeface="Arial"/>
                <a:sym typeface="Arial"/>
              </a:rPr>
              <a:t>Researchers have studied the impact of excessive tourism on fragile ecosystems, especially in pilgrimage destinations like the Himalayas.</a:t>
            </a:r>
          </a:p>
          <a:p>
            <a:pPr algn="l">
              <a:lnSpc>
                <a:spcPts val="599"/>
              </a:lnSpc>
              <a:spcBef>
                <a:spcPct val="0"/>
              </a:spcBef>
            </a:pPr>
          </a:p>
          <a:p>
            <a:pPr algn="l">
              <a:lnSpc>
                <a:spcPts val="3000"/>
              </a:lnSpc>
              <a:spcBef>
                <a:spcPct val="0"/>
              </a:spcBef>
            </a:pPr>
            <a:r>
              <a:rPr lang="en-US" sz="2500" u="sng">
                <a:solidFill>
                  <a:srgbClr val="000000"/>
                </a:solidFill>
                <a:latin typeface="Arial"/>
                <a:ea typeface="Arial"/>
                <a:cs typeface="Arial"/>
                <a:sym typeface="Arial"/>
              </a:rPr>
              <a:t>2) Tourism Demand Forecasting Models</a:t>
            </a:r>
          </a:p>
          <a:p>
            <a:pPr algn="l">
              <a:lnSpc>
                <a:spcPts val="3000"/>
              </a:lnSpc>
              <a:spcBef>
                <a:spcPct val="0"/>
              </a:spcBef>
            </a:pPr>
            <a:r>
              <a:rPr lang="en-US" sz="2500">
                <a:solidFill>
                  <a:srgbClr val="000000"/>
                </a:solidFill>
                <a:latin typeface="Arial"/>
                <a:ea typeface="Arial"/>
                <a:cs typeface="Arial"/>
                <a:sym typeface="Arial"/>
              </a:rPr>
              <a:t>Several studies use ARIMA and regression models to predict tourism demand.</a:t>
            </a:r>
          </a:p>
          <a:p>
            <a:pPr algn="l">
              <a:lnSpc>
                <a:spcPts val="599"/>
              </a:lnSpc>
              <a:spcBef>
                <a:spcPct val="0"/>
              </a:spcBef>
            </a:pPr>
          </a:p>
          <a:p>
            <a:pPr algn="l">
              <a:lnSpc>
                <a:spcPts val="3000"/>
              </a:lnSpc>
              <a:spcBef>
                <a:spcPct val="0"/>
              </a:spcBef>
            </a:pPr>
            <a:r>
              <a:rPr lang="en-US" sz="2500" u="sng">
                <a:solidFill>
                  <a:srgbClr val="000000"/>
                </a:solidFill>
                <a:latin typeface="Arial"/>
                <a:ea typeface="Arial"/>
                <a:cs typeface="Arial"/>
                <a:sym typeface="Arial"/>
              </a:rPr>
              <a:t>3) Environmental Monitoring using Remote Sensing</a:t>
            </a:r>
          </a:p>
          <a:p>
            <a:pPr algn="l">
              <a:lnSpc>
                <a:spcPts val="3000"/>
              </a:lnSpc>
              <a:spcBef>
                <a:spcPct val="0"/>
              </a:spcBef>
            </a:pPr>
            <a:r>
              <a:rPr lang="en-US" sz="2500">
                <a:solidFill>
                  <a:srgbClr val="000000"/>
                </a:solidFill>
                <a:latin typeface="Arial"/>
                <a:ea typeface="Arial"/>
                <a:cs typeface="Arial"/>
                <a:sym typeface="Arial"/>
              </a:rPr>
              <a:t>Satellite imagery and NDVI analysis are used to monitor vegetation health and environmental stress.</a:t>
            </a:r>
          </a:p>
          <a:p>
            <a:pPr algn="l">
              <a:lnSpc>
                <a:spcPts val="599"/>
              </a:lnSpc>
              <a:spcBef>
                <a:spcPct val="0"/>
              </a:spcBef>
            </a:pPr>
          </a:p>
          <a:p>
            <a:pPr algn="l">
              <a:lnSpc>
                <a:spcPts val="3000"/>
              </a:lnSpc>
              <a:spcBef>
                <a:spcPct val="0"/>
              </a:spcBef>
            </a:pPr>
            <a:r>
              <a:rPr lang="en-US" sz="2500" u="sng">
                <a:solidFill>
                  <a:srgbClr val="000000"/>
                </a:solidFill>
                <a:latin typeface="Arial"/>
                <a:ea typeface="Arial"/>
                <a:cs typeface="Arial"/>
                <a:sym typeface="Arial"/>
              </a:rPr>
              <a:t>4) Smart Tourism Systems</a:t>
            </a:r>
          </a:p>
          <a:p>
            <a:pPr algn="l">
              <a:lnSpc>
                <a:spcPts val="3000"/>
              </a:lnSpc>
              <a:spcBef>
                <a:spcPct val="0"/>
              </a:spcBef>
            </a:pPr>
            <a:r>
              <a:rPr lang="en-US" sz="2500">
                <a:solidFill>
                  <a:srgbClr val="000000"/>
                </a:solidFill>
                <a:latin typeface="Arial"/>
                <a:ea typeface="Arial"/>
                <a:cs typeface="Arial"/>
                <a:sym typeface="Arial"/>
              </a:rPr>
              <a:t>Recent studies integrate AI and data analytics to improve tourism management.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758" y="108314"/>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62865" y="217541"/>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TextBox 6" id="6"/>
          <p:cNvSpPr txBox="true"/>
          <p:nvPr/>
        </p:nvSpPr>
        <p:spPr>
          <a:xfrm rot="0">
            <a:off x="580330" y="399612"/>
            <a:ext cx="11112665" cy="804777"/>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Objective</a:t>
            </a:r>
          </a:p>
        </p:txBody>
      </p:sp>
      <p:grpSp>
        <p:nvGrpSpPr>
          <p:cNvPr name="Group 7" id="7"/>
          <p:cNvGrpSpPr/>
          <p:nvPr/>
        </p:nvGrpSpPr>
        <p:grpSpPr>
          <a:xfrm rot="0">
            <a:off x="942407" y="1660035"/>
            <a:ext cx="6381953" cy="3086100"/>
            <a:chOff x="0" y="0"/>
            <a:chExt cx="8509270" cy="4114800"/>
          </a:xfrm>
        </p:grpSpPr>
        <p:grpSp>
          <p:nvGrpSpPr>
            <p:cNvPr name="Group 8" id="8"/>
            <p:cNvGrpSpPr/>
            <p:nvPr/>
          </p:nvGrpSpPr>
          <p:grpSpPr>
            <a:xfrm rot="0">
              <a:off x="0" y="0"/>
              <a:ext cx="8509270" cy="4114800"/>
              <a:chOff x="0" y="0"/>
              <a:chExt cx="1680844" cy="812800"/>
            </a:xfrm>
          </p:grpSpPr>
          <p:sp>
            <p:nvSpPr>
              <p:cNvPr name="Freeform 9" id="9"/>
              <p:cNvSpPr/>
              <p:nvPr/>
            </p:nvSpPr>
            <p:spPr>
              <a:xfrm flipH="false" flipV="false" rot="0">
                <a:off x="0" y="0"/>
                <a:ext cx="1680844" cy="812800"/>
              </a:xfrm>
              <a:custGeom>
                <a:avLst/>
                <a:gdLst/>
                <a:ahLst/>
                <a:cxnLst/>
                <a:rect r="r" b="b" t="t" l="l"/>
                <a:pathLst>
                  <a:path h="812800" w="1680844">
                    <a:moveTo>
                      <a:pt x="61868" y="0"/>
                    </a:moveTo>
                    <a:lnTo>
                      <a:pt x="1618976" y="0"/>
                    </a:lnTo>
                    <a:cubicBezTo>
                      <a:pt x="1653144" y="0"/>
                      <a:pt x="1680844" y="27699"/>
                      <a:pt x="1680844" y="61868"/>
                    </a:cubicBezTo>
                    <a:lnTo>
                      <a:pt x="1680844" y="750932"/>
                    </a:lnTo>
                    <a:cubicBezTo>
                      <a:pt x="1680844" y="767341"/>
                      <a:pt x="1674325" y="783077"/>
                      <a:pt x="1662723" y="794679"/>
                    </a:cubicBezTo>
                    <a:cubicBezTo>
                      <a:pt x="1651120" y="806282"/>
                      <a:pt x="1635384" y="812800"/>
                      <a:pt x="1618976" y="812800"/>
                    </a:cubicBezTo>
                    <a:lnTo>
                      <a:pt x="61868" y="812800"/>
                    </a:lnTo>
                    <a:cubicBezTo>
                      <a:pt x="27699" y="812800"/>
                      <a:pt x="0" y="785101"/>
                      <a:pt x="0" y="750932"/>
                    </a:cubicBezTo>
                    <a:lnTo>
                      <a:pt x="0" y="61868"/>
                    </a:lnTo>
                    <a:cubicBezTo>
                      <a:pt x="0" y="27699"/>
                      <a:pt x="27699" y="0"/>
                      <a:pt x="61868" y="0"/>
                    </a:cubicBezTo>
                    <a:close/>
                  </a:path>
                </a:pathLst>
              </a:custGeom>
              <a:solidFill>
                <a:srgbClr val="004AAD"/>
              </a:solidFill>
            </p:spPr>
          </p:sp>
          <p:sp>
            <p:nvSpPr>
              <p:cNvPr name="TextBox 10" id="10"/>
              <p:cNvSpPr txBox="true"/>
              <p:nvPr/>
            </p:nvSpPr>
            <p:spPr>
              <a:xfrm>
                <a:off x="0" y="-38100"/>
                <a:ext cx="1680844"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57071" y="347629"/>
              <a:ext cx="8395128" cy="3698943"/>
              <a:chOff x="0" y="0"/>
              <a:chExt cx="1658297" cy="730655"/>
            </a:xfrm>
          </p:grpSpPr>
          <p:sp>
            <p:nvSpPr>
              <p:cNvPr name="Freeform 12" id="12"/>
              <p:cNvSpPr/>
              <p:nvPr/>
            </p:nvSpPr>
            <p:spPr>
              <a:xfrm flipH="false" flipV="false" rot="0">
                <a:off x="0" y="0"/>
                <a:ext cx="1658297" cy="730655"/>
              </a:xfrm>
              <a:custGeom>
                <a:avLst/>
                <a:gdLst/>
                <a:ahLst/>
                <a:cxnLst/>
                <a:rect r="r" b="b" t="t" l="l"/>
                <a:pathLst>
                  <a:path h="730655" w="1658297">
                    <a:moveTo>
                      <a:pt x="62709" y="0"/>
                    </a:moveTo>
                    <a:lnTo>
                      <a:pt x="1595588" y="0"/>
                    </a:lnTo>
                    <a:cubicBezTo>
                      <a:pt x="1630221" y="0"/>
                      <a:pt x="1658297" y="28076"/>
                      <a:pt x="1658297" y="62709"/>
                    </a:cubicBezTo>
                    <a:lnTo>
                      <a:pt x="1658297" y="667946"/>
                    </a:lnTo>
                    <a:cubicBezTo>
                      <a:pt x="1658297" y="684578"/>
                      <a:pt x="1651690" y="700528"/>
                      <a:pt x="1639930" y="712288"/>
                    </a:cubicBezTo>
                    <a:cubicBezTo>
                      <a:pt x="1628170" y="724049"/>
                      <a:pt x="1612219" y="730655"/>
                      <a:pt x="1595588" y="730655"/>
                    </a:cubicBezTo>
                    <a:lnTo>
                      <a:pt x="62709" y="730655"/>
                    </a:lnTo>
                    <a:cubicBezTo>
                      <a:pt x="46078" y="730655"/>
                      <a:pt x="30127" y="724049"/>
                      <a:pt x="18367" y="712288"/>
                    </a:cubicBezTo>
                    <a:cubicBezTo>
                      <a:pt x="6607" y="700528"/>
                      <a:pt x="0" y="684578"/>
                      <a:pt x="0" y="667946"/>
                    </a:cubicBezTo>
                    <a:lnTo>
                      <a:pt x="0" y="62709"/>
                    </a:lnTo>
                    <a:cubicBezTo>
                      <a:pt x="0" y="46078"/>
                      <a:pt x="6607" y="30127"/>
                      <a:pt x="18367" y="18367"/>
                    </a:cubicBezTo>
                    <a:cubicBezTo>
                      <a:pt x="30127" y="6607"/>
                      <a:pt x="46078" y="0"/>
                      <a:pt x="62709" y="0"/>
                    </a:cubicBezTo>
                    <a:close/>
                  </a:path>
                </a:pathLst>
              </a:custGeom>
              <a:solidFill>
                <a:srgbClr val="FFFFFF"/>
              </a:solidFill>
            </p:spPr>
          </p:sp>
          <p:sp>
            <p:nvSpPr>
              <p:cNvPr name="TextBox 13" id="13"/>
              <p:cNvSpPr txBox="true"/>
              <p:nvPr/>
            </p:nvSpPr>
            <p:spPr>
              <a:xfrm>
                <a:off x="0" y="-38100"/>
                <a:ext cx="1658297" cy="768755"/>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4" id="14"/>
          <p:cNvGrpSpPr/>
          <p:nvPr/>
        </p:nvGrpSpPr>
        <p:grpSpPr>
          <a:xfrm rot="0">
            <a:off x="10683105" y="1660035"/>
            <a:ext cx="6381953" cy="3086100"/>
            <a:chOff x="0" y="0"/>
            <a:chExt cx="8509270" cy="4114800"/>
          </a:xfrm>
        </p:grpSpPr>
        <p:grpSp>
          <p:nvGrpSpPr>
            <p:cNvPr name="Group 15" id="15"/>
            <p:cNvGrpSpPr/>
            <p:nvPr/>
          </p:nvGrpSpPr>
          <p:grpSpPr>
            <a:xfrm rot="0">
              <a:off x="0" y="0"/>
              <a:ext cx="8509270" cy="4114800"/>
              <a:chOff x="0" y="0"/>
              <a:chExt cx="1680844" cy="812800"/>
            </a:xfrm>
          </p:grpSpPr>
          <p:sp>
            <p:nvSpPr>
              <p:cNvPr name="Freeform 16" id="16"/>
              <p:cNvSpPr/>
              <p:nvPr/>
            </p:nvSpPr>
            <p:spPr>
              <a:xfrm flipH="false" flipV="false" rot="0">
                <a:off x="0" y="0"/>
                <a:ext cx="1680844" cy="812800"/>
              </a:xfrm>
              <a:custGeom>
                <a:avLst/>
                <a:gdLst/>
                <a:ahLst/>
                <a:cxnLst/>
                <a:rect r="r" b="b" t="t" l="l"/>
                <a:pathLst>
                  <a:path h="812800" w="1680844">
                    <a:moveTo>
                      <a:pt x="61868" y="0"/>
                    </a:moveTo>
                    <a:lnTo>
                      <a:pt x="1618976" y="0"/>
                    </a:lnTo>
                    <a:cubicBezTo>
                      <a:pt x="1653144" y="0"/>
                      <a:pt x="1680844" y="27699"/>
                      <a:pt x="1680844" y="61868"/>
                    </a:cubicBezTo>
                    <a:lnTo>
                      <a:pt x="1680844" y="750932"/>
                    </a:lnTo>
                    <a:cubicBezTo>
                      <a:pt x="1680844" y="767341"/>
                      <a:pt x="1674325" y="783077"/>
                      <a:pt x="1662723" y="794679"/>
                    </a:cubicBezTo>
                    <a:cubicBezTo>
                      <a:pt x="1651120" y="806282"/>
                      <a:pt x="1635384" y="812800"/>
                      <a:pt x="1618976" y="812800"/>
                    </a:cubicBezTo>
                    <a:lnTo>
                      <a:pt x="61868" y="812800"/>
                    </a:lnTo>
                    <a:cubicBezTo>
                      <a:pt x="27699" y="812800"/>
                      <a:pt x="0" y="785101"/>
                      <a:pt x="0" y="750932"/>
                    </a:cubicBezTo>
                    <a:lnTo>
                      <a:pt x="0" y="61868"/>
                    </a:lnTo>
                    <a:cubicBezTo>
                      <a:pt x="0" y="27699"/>
                      <a:pt x="27699" y="0"/>
                      <a:pt x="61868" y="0"/>
                    </a:cubicBezTo>
                    <a:close/>
                  </a:path>
                </a:pathLst>
              </a:custGeom>
              <a:solidFill>
                <a:srgbClr val="004AAD"/>
              </a:solidFill>
            </p:spPr>
          </p:sp>
          <p:sp>
            <p:nvSpPr>
              <p:cNvPr name="TextBox 17" id="17"/>
              <p:cNvSpPr txBox="true"/>
              <p:nvPr/>
            </p:nvSpPr>
            <p:spPr>
              <a:xfrm>
                <a:off x="0" y="-38100"/>
                <a:ext cx="1680844"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57071" y="347629"/>
              <a:ext cx="8395128" cy="3698943"/>
              <a:chOff x="0" y="0"/>
              <a:chExt cx="1658297" cy="730655"/>
            </a:xfrm>
          </p:grpSpPr>
          <p:sp>
            <p:nvSpPr>
              <p:cNvPr name="Freeform 19" id="19"/>
              <p:cNvSpPr/>
              <p:nvPr/>
            </p:nvSpPr>
            <p:spPr>
              <a:xfrm flipH="false" flipV="false" rot="0">
                <a:off x="0" y="0"/>
                <a:ext cx="1658297" cy="730655"/>
              </a:xfrm>
              <a:custGeom>
                <a:avLst/>
                <a:gdLst/>
                <a:ahLst/>
                <a:cxnLst/>
                <a:rect r="r" b="b" t="t" l="l"/>
                <a:pathLst>
                  <a:path h="730655" w="1658297">
                    <a:moveTo>
                      <a:pt x="62709" y="0"/>
                    </a:moveTo>
                    <a:lnTo>
                      <a:pt x="1595588" y="0"/>
                    </a:lnTo>
                    <a:cubicBezTo>
                      <a:pt x="1630221" y="0"/>
                      <a:pt x="1658297" y="28076"/>
                      <a:pt x="1658297" y="62709"/>
                    </a:cubicBezTo>
                    <a:lnTo>
                      <a:pt x="1658297" y="667946"/>
                    </a:lnTo>
                    <a:cubicBezTo>
                      <a:pt x="1658297" y="684578"/>
                      <a:pt x="1651690" y="700528"/>
                      <a:pt x="1639930" y="712288"/>
                    </a:cubicBezTo>
                    <a:cubicBezTo>
                      <a:pt x="1628170" y="724049"/>
                      <a:pt x="1612219" y="730655"/>
                      <a:pt x="1595588" y="730655"/>
                    </a:cubicBezTo>
                    <a:lnTo>
                      <a:pt x="62709" y="730655"/>
                    </a:lnTo>
                    <a:cubicBezTo>
                      <a:pt x="46078" y="730655"/>
                      <a:pt x="30127" y="724049"/>
                      <a:pt x="18367" y="712288"/>
                    </a:cubicBezTo>
                    <a:cubicBezTo>
                      <a:pt x="6607" y="700528"/>
                      <a:pt x="0" y="684578"/>
                      <a:pt x="0" y="667946"/>
                    </a:cubicBezTo>
                    <a:lnTo>
                      <a:pt x="0" y="62709"/>
                    </a:lnTo>
                    <a:cubicBezTo>
                      <a:pt x="0" y="46078"/>
                      <a:pt x="6607" y="30127"/>
                      <a:pt x="18367" y="18367"/>
                    </a:cubicBezTo>
                    <a:cubicBezTo>
                      <a:pt x="30127" y="6607"/>
                      <a:pt x="46078" y="0"/>
                      <a:pt x="62709" y="0"/>
                    </a:cubicBezTo>
                    <a:close/>
                  </a:path>
                </a:pathLst>
              </a:custGeom>
              <a:solidFill>
                <a:srgbClr val="FFFFFF"/>
              </a:solidFill>
            </p:spPr>
          </p:sp>
          <p:sp>
            <p:nvSpPr>
              <p:cNvPr name="TextBox 20" id="20"/>
              <p:cNvSpPr txBox="true"/>
              <p:nvPr/>
            </p:nvSpPr>
            <p:spPr>
              <a:xfrm>
                <a:off x="0" y="-38100"/>
                <a:ext cx="1658297" cy="768755"/>
              </a:xfrm>
              <a:prstGeom prst="rect">
                <a:avLst/>
              </a:prstGeom>
            </p:spPr>
            <p:txBody>
              <a:bodyPr anchor="ctr" rtlCol="false" tIns="50800" lIns="50800" bIns="50800" rIns="50800"/>
              <a:lstStyle/>
              <a:p>
                <a:pPr algn="ctr">
                  <a:lnSpc>
                    <a:spcPts val="2659"/>
                  </a:lnSpc>
                  <a:spcBef>
                    <a:spcPct val="0"/>
                  </a:spcBef>
                </a:pPr>
              </a:p>
            </p:txBody>
          </p:sp>
        </p:grpSp>
      </p:grpSp>
      <p:sp>
        <p:nvSpPr>
          <p:cNvPr name="TextBox 21" id="21"/>
          <p:cNvSpPr txBox="true"/>
          <p:nvPr/>
        </p:nvSpPr>
        <p:spPr>
          <a:xfrm rot="0">
            <a:off x="1065551" y="2697694"/>
            <a:ext cx="6258808" cy="9334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Arial"/>
                <a:ea typeface="Arial"/>
                <a:cs typeface="Arial"/>
                <a:sym typeface="Arial"/>
              </a:rPr>
              <a:t>Study the relationship between climate variables and tourist arrivals.</a:t>
            </a:r>
          </a:p>
        </p:txBody>
      </p:sp>
      <p:grpSp>
        <p:nvGrpSpPr>
          <p:cNvPr name="Group 22" id="22"/>
          <p:cNvGrpSpPr/>
          <p:nvPr/>
        </p:nvGrpSpPr>
        <p:grpSpPr>
          <a:xfrm rot="0">
            <a:off x="942407" y="5143500"/>
            <a:ext cx="6381953" cy="3086100"/>
            <a:chOff x="0" y="0"/>
            <a:chExt cx="8509270" cy="4114800"/>
          </a:xfrm>
        </p:grpSpPr>
        <p:grpSp>
          <p:nvGrpSpPr>
            <p:cNvPr name="Group 23" id="23"/>
            <p:cNvGrpSpPr/>
            <p:nvPr/>
          </p:nvGrpSpPr>
          <p:grpSpPr>
            <a:xfrm rot="0">
              <a:off x="0" y="0"/>
              <a:ext cx="8509270" cy="4114800"/>
              <a:chOff x="0" y="0"/>
              <a:chExt cx="1680844" cy="812800"/>
            </a:xfrm>
          </p:grpSpPr>
          <p:sp>
            <p:nvSpPr>
              <p:cNvPr name="Freeform 24" id="24"/>
              <p:cNvSpPr/>
              <p:nvPr/>
            </p:nvSpPr>
            <p:spPr>
              <a:xfrm flipH="false" flipV="false" rot="0">
                <a:off x="0" y="0"/>
                <a:ext cx="1680844" cy="812800"/>
              </a:xfrm>
              <a:custGeom>
                <a:avLst/>
                <a:gdLst/>
                <a:ahLst/>
                <a:cxnLst/>
                <a:rect r="r" b="b" t="t" l="l"/>
                <a:pathLst>
                  <a:path h="812800" w="1680844">
                    <a:moveTo>
                      <a:pt x="61868" y="0"/>
                    </a:moveTo>
                    <a:lnTo>
                      <a:pt x="1618976" y="0"/>
                    </a:lnTo>
                    <a:cubicBezTo>
                      <a:pt x="1653144" y="0"/>
                      <a:pt x="1680844" y="27699"/>
                      <a:pt x="1680844" y="61868"/>
                    </a:cubicBezTo>
                    <a:lnTo>
                      <a:pt x="1680844" y="750932"/>
                    </a:lnTo>
                    <a:cubicBezTo>
                      <a:pt x="1680844" y="767341"/>
                      <a:pt x="1674325" y="783077"/>
                      <a:pt x="1662723" y="794679"/>
                    </a:cubicBezTo>
                    <a:cubicBezTo>
                      <a:pt x="1651120" y="806282"/>
                      <a:pt x="1635384" y="812800"/>
                      <a:pt x="1618976" y="812800"/>
                    </a:cubicBezTo>
                    <a:lnTo>
                      <a:pt x="61868" y="812800"/>
                    </a:lnTo>
                    <a:cubicBezTo>
                      <a:pt x="27699" y="812800"/>
                      <a:pt x="0" y="785101"/>
                      <a:pt x="0" y="750932"/>
                    </a:cubicBezTo>
                    <a:lnTo>
                      <a:pt x="0" y="61868"/>
                    </a:lnTo>
                    <a:cubicBezTo>
                      <a:pt x="0" y="27699"/>
                      <a:pt x="27699" y="0"/>
                      <a:pt x="61868" y="0"/>
                    </a:cubicBezTo>
                    <a:close/>
                  </a:path>
                </a:pathLst>
              </a:custGeom>
              <a:solidFill>
                <a:srgbClr val="004AAD"/>
              </a:solidFill>
            </p:spPr>
          </p:sp>
          <p:sp>
            <p:nvSpPr>
              <p:cNvPr name="TextBox 25" id="25"/>
              <p:cNvSpPr txBox="true"/>
              <p:nvPr/>
            </p:nvSpPr>
            <p:spPr>
              <a:xfrm>
                <a:off x="0" y="-38100"/>
                <a:ext cx="1680844"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0">
              <a:off x="57071" y="347629"/>
              <a:ext cx="8395128" cy="3698943"/>
              <a:chOff x="0" y="0"/>
              <a:chExt cx="1658297" cy="730655"/>
            </a:xfrm>
          </p:grpSpPr>
          <p:sp>
            <p:nvSpPr>
              <p:cNvPr name="Freeform 27" id="27"/>
              <p:cNvSpPr/>
              <p:nvPr/>
            </p:nvSpPr>
            <p:spPr>
              <a:xfrm flipH="false" flipV="false" rot="0">
                <a:off x="0" y="0"/>
                <a:ext cx="1658297" cy="730655"/>
              </a:xfrm>
              <a:custGeom>
                <a:avLst/>
                <a:gdLst/>
                <a:ahLst/>
                <a:cxnLst/>
                <a:rect r="r" b="b" t="t" l="l"/>
                <a:pathLst>
                  <a:path h="730655" w="1658297">
                    <a:moveTo>
                      <a:pt x="62709" y="0"/>
                    </a:moveTo>
                    <a:lnTo>
                      <a:pt x="1595588" y="0"/>
                    </a:lnTo>
                    <a:cubicBezTo>
                      <a:pt x="1630221" y="0"/>
                      <a:pt x="1658297" y="28076"/>
                      <a:pt x="1658297" y="62709"/>
                    </a:cubicBezTo>
                    <a:lnTo>
                      <a:pt x="1658297" y="667946"/>
                    </a:lnTo>
                    <a:cubicBezTo>
                      <a:pt x="1658297" y="684578"/>
                      <a:pt x="1651690" y="700528"/>
                      <a:pt x="1639930" y="712288"/>
                    </a:cubicBezTo>
                    <a:cubicBezTo>
                      <a:pt x="1628170" y="724049"/>
                      <a:pt x="1612219" y="730655"/>
                      <a:pt x="1595588" y="730655"/>
                    </a:cubicBezTo>
                    <a:lnTo>
                      <a:pt x="62709" y="730655"/>
                    </a:lnTo>
                    <a:cubicBezTo>
                      <a:pt x="46078" y="730655"/>
                      <a:pt x="30127" y="724049"/>
                      <a:pt x="18367" y="712288"/>
                    </a:cubicBezTo>
                    <a:cubicBezTo>
                      <a:pt x="6607" y="700528"/>
                      <a:pt x="0" y="684578"/>
                      <a:pt x="0" y="667946"/>
                    </a:cubicBezTo>
                    <a:lnTo>
                      <a:pt x="0" y="62709"/>
                    </a:lnTo>
                    <a:cubicBezTo>
                      <a:pt x="0" y="46078"/>
                      <a:pt x="6607" y="30127"/>
                      <a:pt x="18367" y="18367"/>
                    </a:cubicBezTo>
                    <a:cubicBezTo>
                      <a:pt x="30127" y="6607"/>
                      <a:pt x="46078" y="0"/>
                      <a:pt x="62709" y="0"/>
                    </a:cubicBezTo>
                    <a:close/>
                  </a:path>
                </a:pathLst>
              </a:custGeom>
              <a:solidFill>
                <a:srgbClr val="FFFFFF"/>
              </a:solidFill>
            </p:spPr>
          </p:sp>
          <p:sp>
            <p:nvSpPr>
              <p:cNvPr name="TextBox 28" id="28"/>
              <p:cNvSpPr txBox="true"/>
              <p:nvPr/>
            </p:nvSpPr>
            <p:spPr>
              <a:xfrm>
                <a:off x="0" y="-38100"/>
                <a:ext cx="1658297" cy="768755"/>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9" id="29"/>
          <p:cNvGrpSpPr/>
          <p:nvPr/>
        </p:nvGrpSpPr>
        <p:grpSpPr>
          <a:xfrm rot="0">
            <a:off x="10683105" y="5143500"/>
            <a:ext cx="6381953" cy="3086100"/>
            <a:chOff x="0" y="0"/>
            <a:chExt cx="8509270" cy="4114800"/>
          </a:xfrm>
        </p:grpSpPr>
        <p:grpSp>
          <p:nvGrpSpPr>
            <p:cNvPr name="Group 30" id="30"/>
            <p:cNvGrpSpPr/>
            <p:nvPr/>
          </p:nvGrpSpPr>
          <p:grpSpPr>
            <a:xfrm rot="0">
              <a:off x="0" y="0"/>
              <a:ext cx="8509270" cy="4114800"/>
              <a:chOff x="0" y="0"/>
              <a:chExt cx="1680844" cy="812800"/>
            </a:xfrm>
          </p:grpSpPr>
          <p:sp>
            <p:nvSpPr>
              <p:cNvPr name="Freeform 31" id="31"/>
              <p:cNvSpPr/>
              <p:nvPr/>
            </p:nvSpPr>
            <p:spPr>
              <a:xfrm flipH="false" flipV="false" rot="0">
                <a:off x="0" y="0"/>
                <a:ext cx="1680844" cy="812800"/>
              </a:xfrm>
              <a:custGeom>
                <a:avLst/>
                <a:gdLst/>
                <a:ahLst/>
                <a:cxnLst/>
                <a:rect r="r" b="b" t="t" l="l"/>
                <a:pathLst>
                  <a:path h="812800" w="1680844">
                    <a:moveTo>
                      <a:pt x="61868" y="0"/>
                    </a:moveTo>
                    <a:lnTo>
                      <a:pt x="1618976" y="0"/>
                    </a:lnTo>
                    <a:cubicBezTo>
                      <a:pt x="1653144" y="0"/>
                      <a:pt x="1680844" y="27699"/>
                      <a:pt x="1680844" y="61868"/>
                    </a:cubicBezTo>
                    <a:lnTo>
                      <a:pt x="1680844" y="750932"/>
                    </a:lnTo>
                    <a:cubicBezTo>
                      <a:pt x="1680844" y="767341"/>
                      <a:pt x="1674325" y="783077"/>
                      <a:pt x="1662723" y="794679"/>
                    </a:cubicBezTo>
                    <a:cubicBezTo>
                      <a:pt x="1651120" y="806282"/>
                      <a:pt x="1635384" y="812800"/>
                      <a:pt x="1618976" y="812800"/>
                    </a:cubicBezTo>
                    <a:lnTo>
                      <a:pt x="61868" y="812800"/>
                    </a:lnTo>
                    <a:cubicBezTo>
                      <a:pt x="27699" y="812800"/>
                      <a:pt x="0" y="785101"/>
                      <a:pt x="0" y="750932"/>
                    </a:cubicBezTo>
                    <a:lnTo>
                      <a:pt x="0" y="61868"/>
                    </a:lnTo>
                    <a:cubicBezTo>
                      <a:pt x="0" y="27699"/>
                      <a:pt x="27699" y="0"/>
                      <a:pt x="61868" y="0"/>
                    </a:cubicBezTo>
                    <a:close/>
                  </a:path>
                </a:pathLst>
              </a:custGeom>
              <a:solidFill>
                <a:srgbClr val="004AAD"/>
              </a:solidFill>
            </p:spPr>
          </p:sp>
          <p:sp>
            <p:nvSpPr>
              <p:cNvPr name="TextBox 32" id="32"/>
              <p:cNvSpPr txBox="true"/>
              <p:nvPr/>
            </p:nvSpPr>
            <p:spPr>
              <a:xfrm>
                <a:off x="0" y="-38100"/>
                <a:ext cx="1680844"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33" id="33"/>
            <p:cNvGrpSpPr/>
            <p:nvPr/>
          </p:nvGrpSpPr>
          <p:grpSpPr>
            <a:xfrm rot="0">
              <a:off x="57071" y="347629"/>
              <a:ext cx="8395128" cy="3698943"/>
              <a:chOff x="0" y="0"/>
              <a:chExt cx="1658297" cy="730655"/>
            </a:xfrm>
          </p:grpSpPr>
          <p:sp>
            <p:nvSpPr>
              <p:cNvPr name="Freeform 34" id="34"/>
              <p:cNvSpPr/>
              <p:nvPr/>
            </p:nvSpPr>
            <p:spPr>
              <a:xfrm flipH="false" flipV="false" rot="0">
                <a:off x="0" y="0"/>
                <a:ext cx="1658297" cy="730655"/>
              </a:xfrm>
              <a:custGeom>
                <a:avLst/>
                <a:gdLst/>
                <a:ahLst/>
                <a:cxnLst/>
                <a:rect r="r" b="b" t="t" l="l"/>
                <a:pathLst>
                  <a:path h="730655" w="1658297">
                    <a:moveTo>
                      <a:pt x="62709" y="0"/>
                    </a:moveTo>
                    <a:lnTo>
                      <a:pt x="1595588" y="0"/>
                    </a:lnTo>
                    <a:cubicBezTo>
                      <a:pt x="1630221" y="0"/>
                      <a:pt x="1658297" y="28076"/>
                      <a:pt x="1658297" y="62709"/>
                    </a:cubicBezTo>
                    <a:lnTo>
                      <a:pt x="1658297" y="667946"/>
                    </a:lnTo>
                    <a:cubicBezTo>
                      <a:pt x="1658297" y="684578"/>
                      <a:pt x="1651690" y="700528"/>
                      <a:pt x="1639930" y="712288"/>
                    </a:cubicBezTo>
                    <a:cubicBezTo>
                      <a:pt x="1628170" y="724049"/>
                      <a:pt x="1612219" y="730655"/>
                      <a:pt x="1595588" y="730655"/>
                    </a:cubicBezTo>
                    <a:lnTo>
                      <a:pt x="62709" y="730655"/>
                    </a:lnTo>
                    <a:cubicBezTo>
                      <a:pt x="46078" y="730655"/>
                      <a:pt x="30127" y="724049"/>
                      <a:pt x="18367" y="712288"/>
                    </a:cubicBezTo>
                    <a:cubicBezTo>
                      <a:pt x="6607" y="700528"/>
                      <a:pt x="0" y="684578"/>
                      <a:pt x="0" y="667946"/>
                    </a:cubicBezTo>
                    <a:lnTo>
                      <a:pt x="0" y="62709"/>
                    </a:lnTo>
                    <a:cubicBezTo>
                      <a:pt x="0" y="46078"/>
                      <a:pt x="6607" y="30127"/>
                      <a:pt x="18367" y="18367"/>
                    </a:cubicBezTo>
                    <a:cubicBezTo>
                      <a:pt x="30127" y="6607"/>
                      <a:pt x="46078" y="0"/>
                      <a:pt x="62709" y="0"/>
                    </a:cubicBezTo>
                    <a:close/>
                  </a:path>
                </a:pathLst>
              </a:custGeom>
              <a:solidFill>
                <a:srgbClr val="FFFFFF"/>
              </a:solidFill>
            </p:spPr>
          </p:sp>
          <p:sp>
            <p:nvSpPr>
              <p:cNvPr name="TextBox 35" id="35"/>
              <p:cNvSpPr txBox="true"/>
              <p:nvPr/>
            </p:nvSpPr>
            <p:spPr>
              <a:xfrm>
                <a:off x="0" y="-38100"/>
                <a:ext cx="1658297" cy="768755"/>
              </a:xfrm>
              <a:prstGeom prst="rect">
                <a:avLst/>
              </a:prstGeom>
            </p:spPr>
            <p:txBody>
              <a:bodyPr anchor="ctr" rtlCol="false" tIns="50800" lIns="50800" bIns="50800" rIns="50800"/>
              <a:lstStyle/>
              <a:p>
                <a:pPr algn="ctr">
                  <a:lnSpc>
                    <a:spcPts val="2659"/>
                  </a:lnSpc>
                  <a:spcBef>
                    <a:spcPct val="0"/>
                  </a:spcBef>
                </a:pPr>
              </a:p>
            </p:txBody>
          </p:sp>
        </p:grpSp>
      </p:grpSp>
      <p:sp>
        <p:nvSpPr>
          <p:cNvPr name="TextBox 36" id="36"/>
          <p:cNvSpPr txBox="true"/>
          <p:nvPr/>
        </p:nvSpPr>
        <p:spPr>
          <a:xfrm rot="0">
            <a:off x="10915890" y="2697694"/>
            <a:ext cx="5916382" cy="9334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Arial"/>
                <a:ea typeface="Arial"/>
                <a:cs typeface="Arial"/>
                <a:sym typeface="Arial"/>
              </a:rPr>
              <a:t>Develop machine learning models to predict future tourist numbers.</a:t>
            </a:r>
          </a:p>
        </p:txBody>
      </p:sp>
      <p:sp>
        <p:nvSpPr>
          <p:cNvPr name="TextBox 37" id="37"/>
          <p:cNvSpPr txBox="true"/>
          <p:nvPr/>
        </p:nvSpPr>
        <p:spPr>
          <a:xfrm rot="0">
            <a:off x="1236764" y="6117621"/>
            <a:ext cx="5916382" cy="13906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Arial"/>
                <a:ea typeface="Arial"/>
                <a:cs typeface="Arial"/>
                <a:sym typeface="Arial"/>
              </a:rPr>
              <a:t>Calculate an Ecosystem Stress Index (ESI) combining tourism pressure and climate factors.</a:t>
            </a:r>
          </a:p>
        </p:txBody>
      </p:sp>
      <p:sp>
        <p:nvSpPr>
          <p:cNvPr name="TextBox 38" id="38"/>
          <p:cNvSpPr txBox="true"/>
          <p:nvPr/>
        </p:nvSpPr>
        <p:spPr>
          <a:xfrm rot="0">
            <a:off x="10915890" y="6346221"/>
            <a:ext cx="5916382" cy="933450"/>
          </a:xfrm>
          <a:prstGeom prst="rect">
            <a:avLst/>
          </a:prstGeom>
        </p:spPr>
        <p:txBody>
          <a:bodyPr anchor="t" rtlCol="false" tIns="0" lIns="0" bIns="0" rIns="0">
            <a:spAutoFit/>
          </a:bodyPr>
          <a:lstStyle/>
          <a:p>
            <a:pPr algn="l">
              <a:lnSpc>
                <a:spcPts val="3600"/>
              </a:lnSpc>
              <a:spcBef>
                <a:spcPct val="0"/>
              </a:spcBef>
            </a:pPr>
            <a:r>
              <a:rPr lang="en-US" sz="3000">
                <a:solidFill>
                  <a:srgbClr val="000000"/>
                </a:solidFill>
                <a:latin typeface="Arial"/>
                <a:ea typeface="Arial"/>
                <a:cs typeface="Arial"/>
                <a:sym typeface="Arial"/>
              </a:rPr>
              <a:t>Build an interactive dashboard for visualization and early warnings.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TextBox 6" id="6"/>
          <p:cNvSpPr txBox="true"/>
          <p:nvPr/>
        </p:nvSpPr>
        <p:spPr>
          <a:xfrm rot="0">
            <a:off x="1525422" y="1410726"/>
            <a:ext cx="10715130" cy="8248650"/>
          </a:xfrm>
          <a:prstGeom prst="rect">
            <a:avLst/>
          </a:prstGeom>
        </p:spPr>
        <p:txBody>
          <a:bodyPr anchor="t" rtlCol="false" tIns="0" lIns="0" bIns="0" rIns="0">
            <a:spAutoFit/>
          </a:bodyPr>
          <a:lstStyle/>
          <a:p>
            <a:pPr algn="l">
              <a:lnSpc>
                <a:spcPts val="3600"/>
              </a:lnSpc>
              <a:spcBef>
                <a:spcPct val="0"/>
              </a:spcBef>
            </a:pPr>
            <a:r>
              <a:rPr lang="en-US" b="true" sz="3000">
                <a:solidFill>
                  <a:srgbClr val="000000"/>
                </a:solidFill>
                <a:latin typeface="Arial Bold"/>
                <a:ea typeface="Arial Bold"/>
                <a:cs typeface="Arial Bold"/>
                <a:sym typeface="Arial Bold"/>
              </a:rPr>
              <a:t>Steps</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1) Data Collection</a:t>
            </a:r>
          </a:p>
          <a:p>
            <a:pPr algn="l">
              <a:lnSpc>
                <a:spcPts val="3600"/>
              </a:lnSpc>
              <a:spcBef>
                <a:spcPct val="0"/>
              </a:spcBef>
            </a:pPr>
            <a:r>
              <a:rPr lang="en-US" sz="3000">
                <a:solidFill>
                  <a:srgbClr val="000000"/>
                </a:solidFill>
                <a:latin typeface="Arial"/>
                <a:ea typeface="Arial"/>
                <a:cs typeface="Arial"/>
                <a:sym typeface="Arial"/>
              </a:rPr>
              <a:t>Tourism and climate datasets are collected from public sources.</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2) Data Preprocessing</a:t>
            </a:r>
          </a:p>
          <a:p>
            <a:pPr algn="l">
              <a:lnSpc>
                <a:spcPts val="3600"/>
              </a:lnSpc>
              <a:spcBef>
                <a:spcPct val="0"/>
              </a:spcBef>
            </a:pPr>
            <a:r>
              <a:rPr lang="en-US" sz="3000">
                <a:solidFill>
                  <a:srgbClr val="000000"/>
                </a:solidFill>
                <a:latin typeface="Arial"/>
                <a:ea typeface="Arial"/>
                <a:cs typeface="Arial"/>
                <a:sym typeface="Arial"/>
              </a:rPr>
              <a:t>Datasets are cleaned, merged, and formatted.</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3) Exploratory Data Analysis</a:t>
            </a:r>
          </a:p>
          <a:p>
            <a:pPr algn="l">
              <a:lnSpc>
                <a:spcPts val="3600"/>
              </a:lnSpc>
              <a:spcBef>
                <a:spcPct val="0"/>
              </a:spcBef>
            </a:pPr>
            <a:r>
              <a:rPr lang="en-US" sz="3000">
                <a:solidFill>
                  <a:srgbClr val="000000"/>
                </a:solidFill>
                <a:latin typeface="Arial"/>
                <a:ea typeface="Arial"/>
                <a:cs typeface="Arial"/>
                <a:sym typeface="Arial"/>
              </a:rPr>
              <a:t>Visualization of tourism trends and climate relationships.</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4) Machine Learning Modeling</a:t>
            </a:r>
          </a:p>
          <a:p>
            <a:pPr algn="l">
              <a:lnSpc>
                <a:spcPts val="3600"/>
              </a:lnSpc>
              <a:spcBef>
                <a:spcPct val="0"/>
              </a:spcBef>
            </a:pPr>
            <a:r>
              <a:rPr lang="en-US" sz="3000">
                <a:solidFill>
                  <a:srgbClr val="000000"/>
                </a:solidFill>
                <a:latin typeface="Arial"/>
                <a:ea typeface="Arial"/>
                <a:cs typeface="Arial"/>
                <a:sym typeface="Arial"/>
              </a:rPr>
              <a:t>Two prediction models are implemented:</a:t>
            </a:r>
          </a:p>
          <a:p>
            <a:pPr algn="l">
              <a:lnSpc>
                <a:spcPts val="3600"/>
              </a:lnSpc>
              <a:spcBef>
                <a:spcPct val="0"/>
              </a:spcBef>
            </a:pPr>
            <a:r>
              <a:rPr lang="en-US" sz="3000">
                <a:solidFill>
                  <a:srgbClr val="000000"/>
                </a:solidFill>
                <a:latin typeface="Arial"/>
                <a:ea typeface="Arial"/>
                <a:cs typeface="Arial"/>
                <a:sym typeface="Arial"/>
              </a:rPr>
              <a:t>• Random Forest Regressor</a:t>
            </a:r>
          </a:p>
          <a:p>
            <a:pPr algn="l">
              <a:lnSpc>
                <a:spcPts val="3600"/>
              </a:lnSpc>
              <a:spcBef>
                <a:spcPct val="0"/>
              </a:spcBef>
            </a:pPr>
            <a:r>
              <a:rPr lang="en-US" sz="3000">
                <a:solidFill>
                  <a:srgbClr val="000000"/>
                </a:solidFill>
                <a:latin typeface="Arial"/>
                <a:ea typeface="Arial"/>
                <a:cs typeface="Arial"/>
                <a:sym typeface="Arial"/>
              </a:rPr>
              <a:t>• ARIMA Time Series Model</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5)Dashboard Development</a:t>
            </a:r>
          </a:p>
          <a:p>
            <a:pPr algn="l">
              <a:lnSpc>
                <a:spcPts val="3600"/>
              </a:lnSpc>
              <a:spcBef>
                <a:spcPct val="0"/>
              </a:spcBef>
            </a:pPr>
            <a:r>
              <a:rPr lang="en-US" sz="3000">
                <a:solidFill>
                  <a:srgbClr val="000000"/>
                </a:solidFill>
                <a:latin typeface="Arial"/>
                <a:ea typeface="Arial"/>
                <a:cs typeface="Arial"/>
                <a:sym typeface="Arial"/>
              </a:rPr>
              <a:t> An interactive dashboard is created using Streamlit and Plotly.</a:t>
            </a:r>
          </a:p>
        </p:txBody>
      </p:sp>
      <p:sp>
        <p:nvSpPr>
          <p:cNvPr name="Freeform 7" id="7"/>
          <p:cNvSpPr/>
          <p:nvPr/>
        </p:nvSpPr>
        <p:spPr>
          <a:xfrm flipH="false" flipV="false" rot="0">
            <a:off x="12892709" y="2124958"/>
            <a:ext cx="4851930" cy="3833025"/>
          </a:xfrm>
          <a:custGeom>
            <a:avLst/>
            <a:gdLst/>
            <a:ahLst/>
            <a:cxnLst/>
            <a:rect r="r" b="b" t="t" l="l"/>
            <a:pathLst>
              <a:path h="3833025" w="4851930">
                <a:moveTo>
                  <a:pt x="0" y="0"/>
                </a:moveTo>
                <a:lnTo>
                  <a:pt x="4851930" y="0"/>
                </a:lnTo>
                <a:lnTo>
                  <a:pt x="4851930" y="3833025"/>
                </a:lnTo>
                <a:lnTo>
                  <a:pt x="0" y="3833025"/>
                </a:lnTo>
                <a:lnTo>
                  <a:pt x="0" y="0"/>
                </a:lnTo>
                <a:close/>
              </a:path>
            </a:pathLst>
          </a:custGeom>
          <a:blipFill>
            <a:blip r:embed="rId3"/>
            <a:stretch>
              <a:fillRect l="0" t="0" r="0" b="0"/>
            </a:stretch>
          </a:blipFill>
        </p:spPr>
      </p:sp>
      <p:sp>
        <p:nvSpPr>
          <p:cNvPr name="Freeform 8" id="8"/>
          <p:cNvSpPr/>
          <p:nvPr/>
        </p:nvSpPr>
        <p:spPr>
          <a:xfrm flipH="false" flipV="false" rot="0">
            <a:off x="13372427" y="6546427"/>
            <a:ext cx="3892494" cy="2711873"/>
          </a:xfrm>
          <a:custGeom>
            <a:avLst/>
            <a:gdLst/>
            <a:ahLst/>
            <a:cxnLst/>
            <a:rect r="r" b="b" t="t" l="l"/>
            <a:pathLst>
              <a:path h="2711873" w="3892494">
                <a:moveTo>
                  <a:pt x="0" y="0"/>
                </a:moveTo>
                <a:lnTo>
                  <a:pt x="3892494" y="0"/>
                </a:lnTo>
                <a:lnTo>
                  <a:pt x="3892494" y="2711873"/>
                </a:lnTo>
                <a:lnTo>
                  <a:pt x="0" y="2711873"/>
                </a:lnTo>
                <a:lnTo>
                  <a:pt x="0" y="0"/>
                </a:lnTo>
                <a:close/>
              </a:path>
            </a:pathLst>
          </a:custGeom>
          <a:blipFill>
            <a:blip r:embed="rId4"/>
            <a:stretch>
              <a:fillRect l="-13584" t="0" r="-10271" b="0"/>
            </a:stretch>
          </a:blipFill>
        </p:spPr>
      </p:sp>
      <p:sp>
        <p:nvSpPr>
          <p:cNvPr name="TextBox 9" id="9"/>
          <p:cNvSpPr txBox="true"/>
          <p:nvPr/>
        </p:nvSpPr>
        <p:spPr>
          <a:xfrm rot="0">
            <a:off x="580330" y="399612"/>
            <a:ext cx="11112665" cy="804777"/>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Methodology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graphicFrame>
        <p:nvGraphicFramePr>
          <p:cNvPr name="Object 6" id="6"/>
          <p:cNvGraphicFramePr/>
          <p:nvPr/>
        </p:nvGraphicFramePr>
        <p:xfrm>
          <a:off x="1707891" y="2929396"/>
          <a:ext cx="3771900" cy="3771900"/>
        </p:xfrm>
        <a:graphic>
          <a:graphicData uri="http://schemas.openxmlformats.org/presentationml/2006/ole">
            <p:oleObj imgW="4521200" imgH="4521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580330" y="399612"/>
            <a:ext cx="11112665" cy="804777"/>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Methodology</a:t>
            </a:r>
          </a:p>
        </p:txBody>
      </p:sp>
      <p:sp>
        <p:nvSpPr>
          <p:cNvPr name="TextBox 8" id="8"/>
          <p:cNvSpPr txBox="true"/>
          <p:nvPr/>
        </p:nvSpPr>
        <p:spPr>
          <a:xfrm rot="0">
            <a:off x="1707891" y="2214959"/>
            <a:ext cx="1814512" cy="514350"/>
          </a:xfrm>
          <a:prstGeom prst="rect">
            <a:avLst/>
          </a:prstGeom>
        </p:spPr>
        <p:txBody>
          <a:bodyPr anchor="t" rtlCol="false" tIns="0" lIns="0" bIns="0" rIns="0">
            <a:spAutoFit/>
          </a:bodyPr>
          <a:lstStyle/>
          <a:p>
            <a:pPr algn="ctr">
              <a:lnSpc>
                <a:spcPts val="4079"/>
              </a:lnSpc>
              <a:spcBef>
                <a:spcPct val="0"/>
              </a:spcBef>
            </a:pPr>
            <a:r>
              <a:rPr lang="en-US" b="true" sz="3399">
                <a:solidFill>
                  <a:srgbClr val="000000"/>
                </a:solidFill>
                <a:latin typeface="Canva Sans Bold"/>
                <a:ea typeface="Canva Sans Bold"/>
                <a:cs typeface="Canva Sans Bold"/>
                <a:sym typeface="Canva Sans Bold"/>
              </a:rPr>
              <a:t>Timeline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Freeform 6" id="6"/>
          <p:cNvSpPr/>
          <p:nvPr/>
        </p:nvSpPr>
        <p:spPr>
          <a:xfrm flipH="false" flipV="false" rot="0">
            <a:off x="2543639" y="1892694"/>
            <a:ext cx="13200721" cy="7194393"/>
          </a:xfrm>
          <a:custGeom>
            <a:avLst/>
            <a:gdLst/>
            <a:ahLst/>
            <a:cxnLst/>
            <a:rect r="r" b="b" t="t" l="l"/>
            <a:pathLst>
              <a:path h="7194393" w="13200721">
                <a:moveTo>
                  <a:pt x="0" y="0"/>
                </a:moveTo>
                <a:lnTo>
                  <a:pt x="13200722" y="0"/>
                </a:lnTo>
                <a:lnTo>
                  <a:pt x="13200722" y="7194393"/>
                </a:lnTo>
                <a:lnTo>
                  <a:pt x="0" y="7194393"/>
                </a:lnTo>
                <a:lnTo>
                  <a:pt x="0" y="0"/>
                </a:lnTo>
                <a:close/>
              </a:path>
            </a:pathLst>
          </a:custGeom>
          <a:blipFill>
            <a:blip r:embed="rId3"/>
            <a:stretch>
              <a:fillRect l="0" t="0" r="0" b="0"/>
            </a:stretch>
          </a:blipFill>
        </p:spPr>
      </p:sp>
      <p:sp>
        <p:nvSpPr>
          <p:cNvPr name="TextBox 7" id="7"/>
          <p:cNvSpPr txBox="true"/>
          <p:nvPr/>
        </p:nvSpPr>
        <p:spPr>
          <a:xfrm rot="0">
            <a:off x="580330" y="399612"/>
            <a:ext cx="5420618" cy="742950"/>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Technical Diagram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graphicFrame>
        <p:nvGraphicFramePr>
          <p:cNvPr name="Object 6" id="6"/>
          <p:cNvGraphicFramePr/>
          <p:nvPr/>
        </p:nvGraphicFramePr>
        <p:xfrm>
          <a:off x="1665088" y="1887411"/>
          <a:ext cx="3771900" cy="4400550"/>
        </p:xfrm>
        <a:graphic>
          <a:graphicData uri="http://schemas.openxmlformats.org/presentationml/2006/ole">
            <p:oleObj imgW="4648200" imgH="5270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580330" y="399612"/>
            <a:ext cx="2472333" cy="742950"/>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Modules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Freeform 6" id="6"/>
          <p:cNvSpPr/>
          <p:nvPr/>
        </p:nvSpPr>
        <p:spPr>
          <a:xfrm flipH="false" flipV="false" rot="0">
            <a:off x="1336521" y="1627964"/>
            <a:ext cx="6382435" cy="4012208"/>
          </a:xfrm>
          <a:custGeom>
            <a:avLst/>
            <a:gdLst/>
            <a:ahLst/>
            <a:cxnLst/>
            <a:rect r="r" b="b" t="t" l="l"/>
            <a:pathLst>
              <a:path h="4012208" w="6382435">
                <a:moveTo>
                  <a:pt x="0" y="0"/>
                </a:moveTo>
                <a:lnTo>
                  <a:pt x="6382435" y="0"/>
                </a:lnTo>
                <a:lnTo>
                  <a:pt x="6382435" y="4012208"/>
                </a:lnTo>
                <a:lnTo>
                  <a:pt x="0" y="4012208"/>
                </a:lnTo>
                <a:lnTo>
                  <a:pt x="0" y="0"/>
                </a:lnTo>
                <a:close/>
              </a:path>
            </a:pathLst>
          </a:custGeom>
          <a:blipFill>
            <a:blip r:embed="rId3"/>
            <a:stretch>
              <a:fillRect l="-2235" t="0" r="-16095" b="0"/>
            </a:stretch>
          </a:blipFill>
        </p:spPr>
      </p:sp>
      <p:sp>
        <p:nvSpPr>
          <p:cNvPr name="Freeform 7" id="7"/>
          <p:cNvSpPr/>
          <p:nvPr/>
        </p:nvSpPr>
        <p:spPr>
          <a:xfrm flipH="false" flipV="false" rot="0">
            <a:off x="9552786" y="1627964"/>
            <a:ext cx="6381245" cy="4012208"/>
          </a:xfrm>
          <a:custGeom>
            <a:avLst/>
            <a:gdLst/>
            <a:ahLst/>
            <a:cxnLst/>
            <a:rect r="r" b="b" t="t" l="l"/>
            <a:pathLst>
              <a:path h="4012208" w="6381245">
                <a:moveTo>
                  <a:pt x="0" y="0"/>
                </a:moveTo>
                <a:lnTo>
                  <a:pt x="6381245" y="0"/>
                </a:lnTo>
                <a:lnTo>
                  <a:pt x="6381245" y="4012208"/>
                </a:lnTo>
                <a:lnTo>
                  <a:pt x="0" y="4012208"/>
                </a:lnTo>
                <a:lnTo>
                  <a:pt x="0" y="0"/>
                </a:lnTo>
                <a:close/>
              </a:path>
            </a:pathLst>
          </a:custGeom>
          <a:blipFill>
            <a:blip r:embed="rId4"/>
            <a:stretch>
              <a:fillRect l="0" t="0" r="0" b="0"/>
            </a:stretch>
          </a:blipFill>
        </p:spPr>
      </p:sp>
      <p:sp>
        <p:nvSpPr>
          <p:cNvPr name="Freeform 8" id="8"/>
          <p:cNvSpPr/>
          <p:nvPr/>
        </p:nvSpPr>
        <p:spPr>
          <a:xfrm flipH="false" flipV="false" rot="0">
            <a:off x="1336521" y="5784001"/>
            <a:ext cx="6382435" cy="4212407"/>
          </a:xfrm>
          <a:custGeom>
            <a:avLst/>
            <a:gdLst/>
            <a:ahLst/>
            <a:cxnLst/>
            <a:rect r="r" b="b" t="t" l="l"/>
            <a:pathLst>
              <a:path h="4212407" w="6382435">
                <a:moveTo>
                  <a:pt x="0" y="0"/>
                </a:moveTo>
                <a:lnTo>
                  <a:pt x="6382435" y="0"/>
                </a:lnTo>
                <a:lnTo>
                  <a:pt x="6382435" y="4212407"/>
                </a:lnTo>
                <a:lnTo>
                  <a:pt x="0" y="4212407"/>
                </a:lnTo>
                <a:lnTo>
                  <a:pt x="0" y="0"/>
                </a:lnTo>
                <a:close/>
              </a:path>
            </a:pathLst>
          </a:custGeom>
          <a:blipFill>
            <a:blip r:embed="rId5"/>
            <a:stretch>
              <a:fillRect l="0" t="0" r="0" b="0"/>
            </a:stretch>
          </a:blipFill>
        </p:spPr>
      </p:sp>
      <p:sp>
        <p:nvSpPr>
          <p:cNvPr name="Freeform 9" id="9"/>
          <p:cNvSpPr/>
          <p:nvPr/>
        </p:nvSpPr>
        <p:spPr>
          <a:xfrm flipH="false" flipV="false" rot="0">
            <a:off x="9552786" y="5784001"/>
            <a:ext cx="6381245" cy="4212407"/>
          </a:xfrm>
          <a:custGeom>
            <a:avLst/>
            <a:gdLst/>
            <a:ahLst/>
            <a:cxnLst/>
            <a:rect r="r" b="b" t="t" l="l"/>
            <a:pathLst>
              <a:path h="4212407" w="6381245">
                <a:moveTo>
                  <a:pt x="0" y="0"/>
                </a:moveTo>
                <a:lnTo>
                  <a:pt x="6381245" y="0"/>
                </a:lnTo>
                <a:lnTo>
                  <a:pt x="6381245" y="4212407"/>
                </a:lnTo>
                <a:lnTo>
                  <a:pt x="0" y="4212407"/>
                </a:lnTo>
                <a:lnTo>
                  <a:pt x="0" y="0"/>
                </a:lnTo>
                <a:close/>
              </a:path>
            </a:pathLst>
          </a:custGeom>
          <a:blipFill>
            <a:blip r:embed="rId6"/>
            <a:stretch>
              <a:fillRect l="-703" t="0" r="-703" b="-5421"/>
            </a:stretch>
          </a:blipFill>
        </p:spPr>
      </p:sp>
      <p:sp>
        <p:nvSpPr>
          <p:cNvPr name="TextBox 10" id="10"/>
          <p:cNvSpPr txBox="true"/>
          <p:nvPr/>
        </p:nvSpPr>
        <p:spPr>
          <a:xfrm rot="0">
            <a:off x="580330" y="399612"/>
            <a:ext cx="4368403" cy="742950"/>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Working Model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Freeform 6" id="6"/>
          <p:cNvSpPr/>
          <p:nvPr/>
        </p:nvSpPr>
        <p:spPr>
          <a:xfrm flipH="false" flipV="false" rot="0">
            <a:off x="1394334" y="5820717"/>
            <a:ext cx="8613463" cy="2099532"/>
          </a:xfrm>
          <a:custGeom>
            <a:avLst/>
            <a:gdLst/>
            <a:ahLst/>
            <a:cxnLst/>
            <a:rect r="r" b="b" t="t" l="l"/>
            <a:pathLst>
              <a:path h="2099532" w="8613463">
                <a:moveTo>
                  <a:pt x="0" y="0"/>
                </a:moveTo>
                <a:lnTo>
                  <a:pt x="8613463" y="0"/>
                </a:lnTo>
                <a:lnTo>
                  <a:pt x="8613463" y="2099531"/>
                </a:lnTo>
                <a:lnTo>
                  <a:pt x="0" y="2099531"/>
                </a:lnTo>
                <a:lnTo>
                  <a:pt x="0" y="0"/>
                </a:lnTo>
                <a:close/>
              </a:path>
            </a:pathLst>
          </a:custGeom>
          <a:blipFill>
            <a:blip r:embed="rId3"/>
            <a:stretch>
              <a:fillRect l="0" t="0" r="0" b="0"/>
            </a:stretch>
          </a:blipFill>
        </p:spPr>
      </p:sp>
      <p:sp>
        <p:nvSpPr>
          <p:cNvPr name="Freeform 7" id="7"/>
          <p:cNvSpPr/>
          <p:nvPr/>
        </p:nvSpPr>
        <p:spPr>
          <a:xfrm flipH="false" flipV="false" rot="0">
            <a:off x="1394334" y="8004156"/>
            <a:ext cx="8613463" cy="1970330"/>
          </a:xfrm>
          <a:custGeom>
            <a:avLst/>
            <a:gdLst/>
            <a:ahLst/>
            <a:cxnLst/>
            <a:rect r="r" b="b" t="t" l="l"/>
            <a:pathLst>
              <a:path h="1970330" w="8613463">
                <a:moveTo>
                  <a:pt x="0" y="0"/>
                </a:moveTo>
                <a:lnTo>
                  <a:pt x="8613463" y="0"/>
                </a:lnTo>
                <a:lnTo>
                  <a:pt x="8613463" y="1970330"/>
                </a:lnTo>
                <a:lnTo>
                  <a:pt x="0" y="1970330"/>
                </a:lnTo>
                <a:lnTo>
                  <a:pt x="0" y="0"/>
                </a:lnTo>
                <a:close/>
              </a:path>
            </a:pathLst>
          </a:custGeom>
          <a:blipFill>
            <a:blip r:embed="rId4"/>
            <a:stretch>
              <a:fillRect l="0" t="0" r="0" b="0"/>
            </a:stretch>
          </a:blipFill>
        </p:spPr>
      </p:sp>
      <p:sp>
        <p:nvSpPr>
          <p:cNvPr name="Freeform 8" id="8"/>
          <p:cNvSpPr/>
          <p:nvPr/>
        </p:nvSpPr>
        <p:spPr>
          <a:xfrm flipH="false" flipV="false" rot="0">
            <a:off x="11708120" y="1220850"/>
            <a:ext cx="6059862" cy="2905651"/>
          </a:xfrm>
          <a:custGeom>
            <a:avLst/>
            <a:gdLst/>
            <a:ahLst/>
            <a:cxnLst/>
            <a:rect r="r" b="b" t="t" l="l"/>
            <a:pathLst>
              <a:path h="2905651" w="6059862">
                <a:moveTo>
                  <a:pt x="0" y="0"/>
                </a:moveTo>
                <a:lnTo>
                  <a:pt x="6059863" y="0"/>
                </a:lnTo>
                <a:lnTo>
                  <a:pt x="6059863" y="2905651"/>
                </a:lnTo>
                <a:lnTo>
                  <a:pt x="0" y="2905651"/>
                </a:lnTo>
                <a:lnTo>
                  <a:pt x="0" y="0"/>
                </a:lnTo>
                <a:close/>
              </a:path>
            </a:pathLst>
          </a:custGeom>
          <a:blipFill>
            <a:blip r:embed="rId5"/>
            <a:stretch>
              <a:fillRect l="0" t="-3572" r="0" b="-3572"/>
            </a:stretch>
          </a:blipFill>
        </p:spPr>
      </p:sp>
      <p:sp>
        <p:nvSpPr>
          <p:cNvPr name="Freeform 9" id="9"/>
          <p:cNvSpPr/>
          <p:nvPr/>
        </p:nvSpPr>
        <p:spPr>
          <a:xfrm flipH="false" flipV="false" rot="0">
            <a:off x="11708120" y="4231644"/>
            <a:ext cx="6059862" cy="2799605"/>
          </a:xfrm>
          <a:custGeom>
            <a:avLst/>
            <a:gdLst/>
            <a:ahLst/>
            <a:cxnLst/>
            <a:rect r="r" b="b" t="t" l="l"/>
            <a:pathLst>
              <a:path h="2799605" w="6059862">
                <a:moveTo>
                  <a:pt x="0" y="0"/>
                </a:moveTo>
                <a:lnTo>
                  <a:pt x="6059863" y="0"/>
                </a:lnTo>
                <a:lnTo>
                  <a:pt x="6059863" y="2799605"/>
                </a:lnTo>
                <a:lnTo>
                  <a:pt x="0" y="2799605"/>
                </a:lnTo>
                <a:lnTo>
                  <a:pt x="0" y="0"/>
                </a:lnTo>
                <a:close/>
              </a:path>
            </a:pathLst>
          </a:custGeom>
          <a:blipFill>
            <a:blip r:embed="rId6"/>
            <a:stretch>
              <a:fillRect l="0" t="-3572" r="0" b="-3572"/>
            </a:stretch>
          </a:blipFill>
        </p:spPr>
      </p:sp>
      <p:sp>
        <p:nvSpPr>
          <p:cNvPr name="Freeform 10" id="10"/>
          <p:cNvSpPr/>
          <p:nvPr/>
        </p:nvSpPr>
        <p:spPr>
          <a:xfrm flipH="false" flipV="false" rot="0">
            <a:off x="11708120" y="7171800"/>
            <a:ext cx="6059862" cy="2802686"/>
          </a:xfrm>
          <a:custGeom>
            <a:avLst/>
            <a:gdLst/>
            <a:ahLst/>
            <a:cxnLst/>
            <a:rect r="r" b="b" t="t" l="l"/>
            <a:pathLst>
              <a:path h="2802686" w="6059862">
                <a:moveTo>
                  <a:pt x="0" y="0"/>
                </a:moveTo>
                <a:lnTo>
                  <a:pt x="6059863" y="0"/>
                </a:lnTo>
                <a:lnTo>
                  <a:pt x="6059863" y="2802686"/>
                </a:lnTo>
                <a:lnTo>
                  <a:pt x="0" y="2802686"/>
                </a:lnTo>
                <a:lnTo>
                  <a:pt x="0" y="0"/>
                </a:lnTo>
                <a:close/>
              </a:path>
            </a:pathLst>
          </a:custGeom>
          <a:blipFill>
            <a:blip r:embed="rId7"/>
            <a:stretch>
              <a:fillRect l="0" t="0" r="0" b="0"/>
            </a:stretch>
          </a:blipFill>
        </p:spPr>
      </p:sp>
      <p:sp>
        <p:nvSpPr>
          <p:cNvPr name="TextBox 11" id="11"/>
          <p:cNvSpPr txBox="true"/>
          <p:nvPr/>
        </p:nvSpPr>
        <p:spPr>
          <a:xfrm rot="0">
            <a:off x="580330" y="399612"/>
            <a:ext cx="11112665" cy="804777"/>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Results</a:t>
            </a:r>
          </a:p>
        </p:txBody>
      </p:sp>
      <p:sp>
        <p:nvSpPr>
          <p:cNvPr name="TextBox 12" id="12"/>
          <p:cNvSpPr txBox="true"/>
          <p:nvPr/>
        </p:nvSpPr>
        <p:spPr>
          <a:xfrm rot="0">
            <a:off x="1394334" y="1436103"/>
            <a:ext cx="5406033" cy="4133850"/>
          </a:xfrm>
          <a:prstGeom prst="rect">
            <a:avLst/>
          </a:prstGeom>
        </p:spPr>
        <p:txBody>
          <a:bodyPr anchor="t" rtlCol="false" tIns="0" lIns="0" bIns="0" rIns="0">
            <a:spAutoFit/>
          </a:bodyPr>
          <a:lstStyle/>
          <a:p>
            <a:pPr algn="l">
              <a:lnSpc>
                <a:spcPts val="3600"/>
              </a:lnSpc>
              <a:spcBef>
                <a:spcPct val="0"/>
              </a:spcBef>
            </a:pPr>
            <a:r>
              <a:rPr lang="en-US" b="true" sz="3000">
                <a:solidFill>
                  <a:srgbClr val="000000"/>
                </a:solidFill>
                <a:latin typeface="Arial Bold"/>
                <a:ea typeface="Arial Bold"/>
                <a:cs typeface="Arial Bold"/>
                <a:sym typeface="Arial Bold"/>
              </a:rPr>
              <a:t>Outcome Graphs</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 Pilgrim Footfall Trend</a:t>
            </a:r>
          </a:p>
          <a:p>
            <a:pPr algn="l">
              <a:lnSpc>
                <a:spcPts val="3600"/>
              </a:lnSpc>
              <a:spcBef>
                <a:spcPct val="0"/>
              </a:spcBef>
            </a:pPr>
            <a:r>
              <a:rPr lang="en-US" sz="3000">
                <a:solidFill>
                  <a:srgbClr val="000000"/>
                </a:solidFill>
                <a:latin typeface="Arial"/>
                <a:ea typeface="Arial"/>
                <a:cs typeface="Arial"/>
                <a:sym typeface="Arial"/>
              </a:rPr>
              <a:t>• Ecosystem Stress Index Trend</a:t>
            </a:r>
          </a:p>
          <a:p>
            <a:pPr algn="l">
              <a:lnSpc>
                <a:spcPts val="3600"/>
              </a:lnSpc>
              <a:spcBef>
                <a:spcPct val="0"/>
              </a:spcBef>
            </a:pPr>
            <a:r>
              <a:rPr lang="en-US" sz="3000">
                <a:solidFill>
                  <a:srgbClr val="000000"/>
                </a:solidFill>
                <a:latin typeface="Arial"/>
                <a:ea typeface="Arial"/>
                <a:cs typeface="Arial"/>
                <a:sym typeface="Arial"/>
              </a:rPr>
              <a:t>• Climate Impact Scatter Plots</a:t>
            </a:r>
          </a:p>
          <a:p>
            <a:pPr algn="l">
              <a:lnSpc>
                <a:spcPts val="3600"/>
              </a:lnSpc>
              <a:spcBef>
                <a:spcPct val="0"/>
              </a:spcBef>
            </a:pPr>
            <a:r>
              <a:rPr lang="en-US" sz="3000">
                <a:solidFill>
                  <a:srgbClr val="000000"/>
                </a:solidFill>
                <a:latin typeface="Arial"/>
                <a:ea typeface="Arial"/>
                <a:cs typeface="Arial"/>
                <a:sym typeface="Arial"/>
              </a:rPr>
              <a:t>• Seasonality Heatmap</a:t>
            </a:r>
          </a:p>
          <a:p>
            <a:pPr algn="l">
              <a:lnSpc>
                <a:spcPts val="3600"/>
              </a:lnSpc>
              <a:spcBef>
                <a:spcPct val="0"/>
              </a:spcBef>
            </a:pPr>
            <a:r>
              <a:rPr lang="en-US" sz="3000">
                <a:solidFill>
                  <a:srgbClr val="000000"/>
                </a:solidFill>
                <a:latin typeface="Arial"/>
                <a:ea typeface="Arial"/>
                <a:cs typeface="Arial"/>
                <a:sym typeface="Arial"/>
              </a:rPr>
              <a:t>• Correlation Matrix</a:t>
            </a:r>
          </a:p>
          <a:p>
            <a:pPr algn="l">
              <a:lnSpc>
                <a:spcPts val="3600"/>
              </a:lnSpc>
              <a:spcBef>
                <a:spcPct val="0"/>
              </a:spcBef>
            </a:pPr>
            <a:r>
              <a:rPr lang="en-US" sz="3000">
                <a:solidFill>
                  <a:srgbClr val="000000"/>
                </a:solidFill>
                <a:latin typeface="Arial"/>
                <a:ea typeface="Arial"/>
                <a:cs typeface="Arial"/>
                <a:sym typeface="Arial"/>
              </a:rPr>
              <a:t>• Forecast Comparison Graph</a:t>
            </a:r>
          </a:p>
          <a:p>
            <a:pPr algn="l">
              <a:lnSpc>
                <a:spcPts val="3600"/>
              </a:lnSpc>
              <a:spcBef>
                <a:spcPct val="0"/>
              </a:spcBef>
            </a:pPr>
            <a:r>
              <a:rPr lang="en-US" sz="3000">
                <a:solidFill>
                  <a:srgbClr val="000000"/>
                </a:solidFill>
                <a:latin typeface="Arial"/>
                <a:ea typeface="Arial"/>
                <a:cs typeface="Arial"/>
                <a:sym typeface="Arial"/>
              </a:rPr>
              <a:t>• Geospatial Monitoring Map</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Freeform 6" id="6"/>
          <p:cNvSpPr/>
          <p:nvPr/>
        </p:nvSpPr>
        <p:spPr>
          <a:xfrm flipH="false" flipV="false" rot="0">
            <a:off x="10050906" y="1485905"/>
            <a:ext cx="7725685" cy="3949757"/>
          </a:xfrm>
          <a:custGeom>
            <a:avLst/>
            <a:gdLst/>
            <a:ahLst/>
            <a:cxnLst/>
            <a:rect r="r" b="b" t="t" l="l"/>
            <a:pathLst>
              <a:path h="3949757" w="7725685">
                <a:moveTo>
                  <a:pt x="0" y="0"/>
                </a:moveTo>
                <a:lnTo>
                  <a:pt x="7725685" y="0"/>
                </a:lnTo>
                <a:lnTo>
                  <a:pt x="7725685" y="3949756"/>
                </a:lnTo>
                <a:lnTo>
                  <a:pt x="0" y="3949756"/>
                </a:lnTo>
                <a:lnTo>
                  <a:pt x="0" y="0"/>
                </a:lnTo>
                <a:close/>
              </a:path>
            </a:pathLst>
          </a:custGeom>
          <a:blipFill>
            <a:blip r:embed="rId3"/>
            <a:stretch>
              <a:fillRect l="0" t="0" r="0" b="0"/>
            </a:stretch>
          </a:blipFill>
        </p:spPr>
      </p:sp>
      <p:sp>
        <p:nvSpPr>
          <p:cNvPr name="Freeform 7" id="7"/>
          <p:cNvSpPr/>
          <p:nvPr/>
        </p:nvSpPr>
        <p:spPr>
          <a:xfrm flipH="false" flipV="false" rot="0">
            <a:off x="14372788" y="5617568"/>
            <a:ext cx="3403804" cy="3468845"/>
          </a:xfrm>
          <a:custGeom>
            <a:avLst/>
            <a:gdLst/>
            <a:ahLst/>
            <a:cxnLst/>
            <a:rect r="r" b="b" t="t" l="l"/>
            <a:pathLst>
              <a:path h="3468845" w="3403804">
                <a:moveTo>
                  <a:pt x="0" y="0"/>
                </a:moveTo>
                <a:lnTo>
                  <a:pt x="3403803" y="0"/>
                </a:lnTo>
                <a:lnTo>
                  <a:pt x="3403803" y="3468844"/>
                </a:lnTo>
                <a:lnTo>
                  <a:pt x="0" y="3468844"/>
                </a:lnTo>
                <a:lnTo>
                  <a:pt x="0" y="0"/>
                </a:lnTo>
                <a:close/>
              </a:path>
            </a:pathLst>
          </a:custGeom>
          <a:blipFill>
            <a:blip r:embed="rId4"/>
            <a:stretch>
              <a:fillRect l="0" t="0" r="0" b="0"/>
            </a:stretch>
          </a:blipFill>
        </p:spPr>
      </p:sp>
      <p:sp>
        <p:nvSpPr>
          <p:cNvPr name="Freeform 8" id="8"/>
          <p:cNvSpPr/>
          <p:nvPr/>
        </p:nvSpPr>
        <p:spPr>
          <a:xfrm flipH="false" flipV="false" rot="0">
            <a:off x="10050906" y="5672899"/>
            <a:ext cx="3496556" cy="3413513"/>
          </a:xfrm>
          <a:custGeom>
            <a:avLst/>
            <a:gdLst/>
            <a:ahLst/>
            <a:cxnLst/>
            <a:rect r="r" b="b" t="t" l="l"/>
            <a:pathLst>
              <a:path h="3413513" w="3496556">
                <a:moveTo>
                  <a:pt x="0" y="0"/>
                </a:moveTo>
                <a:lnTo>
                  <a:pt x="3496556" y="0"/>
                </a:lnTo>
                <a:lnTo>
                  <a:pt x="3496556" y="3413513"/>
                </a:lnTo>
                <a:lnTo>
                  <a:pt x="0" y="3413513"/>
                </a:lnTo>
                <a:lnTo>
                  <a:pt x="0" y="0"/>
                </a:lnTo>
                <a:close/>
              </a:path>
            </a:pathLst>
          </a:custGeom>
          <a:blipFill>
            <a:blip r:embed="rId5"/>
            <a:stretch>
              <a:fillRect l="0" t="0" r="0" b="0"/>
            </a:stretch>
          </a:blipFill>
        </p:spPr>
      </p:sp>
      <p:sp>
        <p:nvSpPr>
          <p:cNvPr name="TextBox 9" id="9"/>
          <p:cNvSpPr txBox="true"/>
          <p:nvPr/>
        </p:nvSpPr>
        <p:spPr>
          <a:xfrm rot="0">
            <a:off x="1028700" y="1466855"/>
            <a:ext cx="7650956" cy="7334250"/>
          </a:xfrm>
          <a:prstGeom prst="rect">
            <a:avLst/>
          </a:prstGeom>
        </p:spPr>
        <p:txBody>
          <a:bodyPr anchor="t" rtlCol="false" tIns="0" lIns="0" bIns="0" rIns="0">
            <a:spAutoFit/>
          </a:bodyPr>
          <a:lstStyle/>
          <a:p>
            <a:pPr algn="l">
              <a:lnSpc>
                <a:spcPts val="3600"/>
              </a:lnSpc>
              <a:spcBef>
                <a:spcPct val="0"/>
              </a:spcBef>
            </a:pPr>
            <a:r>
              <a:rPr lang="en-US" b="true" sz="3000">
                <a:solidFill>
                  <a:srgbClr val="000000"/>
                </a:solidFill>
                <a:latin typeface="Arial Bold"/>
                <a:ea typeface="Arial Bold"/>
                <a:cs typeface="Arial Bold"/>
                <a:sym typeface="Arial Bold"/>
              </a:rPr>
              <a:t>J</a:t>
            </a:r>
            <a:r>
              <a:rPr lang="en-US" b="true" sz="3000">
                <a:solidFill>
                  <a:srgbClr val="000000"/>
                </a:solidFill>
                <a:latin typeface="Arial Bold"/>
                <a:ea typeface="Arial Bold"/>
                <a:cs typeface="Arial Bold"/>
                <a:sym typeface="Arial Bold"/>
              </a:rPr>
              <a:t>ustification of Objectives</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The project successfully demonstrates:</a:t>
            </a:r>
          </a:p>
          <a:p>
            <a:pPr algn="l">
              <a:lnSpc>
                <a:spcPts val="3600"/>
              </a:lnSpc>
              <a:spcBef>
                <a:spcPct val="0"/>
              </a:spcBef>
            </a:pPr>
            <a:r>
              <a:rPr lang="en-US" sz="3000">
                <a:solidFill>
                  <a:srgbClr val="000000"/>
                </a:solidFill>
                <a:latin typeface="Arial"/>
                <a:ea typeface="Arial"/>
                <a:cs typeface="Arial"/>
                <a:sym typeface="Arial"/>
              </a:rPr>
              <a:t>• AI-based prediction of tourism pressure</a:t>
            </a:r>
          </a:p>
          <a:p>
            <a:pPr algn="l">
              <a:lnSpc>
                <a:spcPts val="3600"/>
              </a:lnSpc>
              <a:spcBef>
                <a:spcPct val="0"/>
              </a:spcBef>
            </a:pPr>
            <a:r>
              <a:rPr lang="en-US" sz="3000">
                <a:solidFill>
                  <a:srgbClr val="000000"/>
                </a:solidFill>
                <a:latin typeface="Arial"/>
                <a:ea typeface="Arial"/>
                <a:cs typeface="Arial"/>
                <a:sym typeface="Arial"/>
              </a:rPr>
              <a:t>• Visualization of ecosystem stress indicators</a:t>
            </a:r>
          </a:p>
          <a:p>
            <a:pPr algn="l">
              <a:lnSpc>
                <a:spcPts val="3600"/>
              </a:lnSpc>
              <a:spcBef>
                <a:spcPct val="0"/>
              </a:spcBef>
            </a:pPr>
            <a:r>
              <a:rPr lang="en-US" sz="3000">
                <a:solidFill>
                  <a:srgbClr val="000000"/>
                </a:solidFill>
                <a:latin typeface="Arial"/>
                <a:ea typeface="Arial"/>
                <a:cs typeface="Arial"/>
                <a:sym typeface="Arial"/>
              </a:rPr>
              <a:t>• Early warning system for environmental risk</a:t>
            </a:r>
          </a:p>
          <a:p>
            <a:pPr algn="l">
              <a:lnSpc>
                <a:spcPts val="3600"/>
              </a:lnSpc>
              <a:spcBef>
                <a:spcPct val="0"/>
              </a:spcBef>
            </a:pPr>
          </a:p>
          <a:p>
            <a:pPr algn="l">
              <a:lnSpc>
                <a:spcPts val="3600"/>
              </a:lnSpc>
              <a:spcBef>
                <a:spcPct val="0"/>
              </a:spcBef>
            </a:pPr>
          </a:p>
          <a:p>
            <a:pPr algn="l">
              <a:lnSpc>
                <a:spcPts val="3600"/>
              </a:lnSpc>
              <a:spcBef>
                <a:spcPct val="0"/>
              </a:spcBef>
            </a:pPr>
            <a:r>
              <a:rPr lang="en-US" b="true" sz="3000">
                <a:solidFill>
                  <a:srgbClr val="000000"/>
                </a:solidFill>
                <a:latin typeface="Arial Bold"/>
                <a:ea typeface="Arial Bold"/>
                <a:cs typeface="Arial Bold"/>
                <a:sym typeface="Arial Bold"/>
              </a:rPr>
              <a:t>Future Scope</a:t>
            </a:r>
          </a:p>
          <a:p>
            <a:pPr algn="l">
              <a:lnSpc>
                <a:spcPts val="3600"/>
              </a:lnSpc>
              <a:spcBef>
                <a:spcPct val="0"/>
              </a:spcBef>
            </a:pPr>
          </a:p>
          <a:p>
            <a:pPr algn="l">
              <a:lnSpc>
                <a:spcPts val="3600"/>
              </a:lnSpc>
              <a:spcBef>
                <a:spcPct val="0"/>
              </a:spcBef>
            </a:pPr>
            <a:r>
              <a:rPr lang="en-US" sz="3000">
                <a:solidFill>
                  <a:srgbClr val="000000"/>
                </a:solidFill>
                <a:latin typeface="Arial"/>
                <a:ea typeface="Arial"/>
                <a:cs typeface="Arial"/>
                <a:sym typeface="Arial"/>
              </a:rPr>
              <a:t>Future extensions include:</a:t>
            </a:r>
          </a:p>
          <a:p>
            <a:pPr algn="l">
              <a:lnSpc>
                <a:spcPts val="3600"/>
              </a:lnSpc>
              <a:spcBef>
                <a:spcPct val="0"/>
              </a:spcBef>
            </a:pPr>
            <a:r>
              <a:rPr lang="en-US" sz="3000">
                <a:solidFill>
                  <a:srgbClr val="000000"/>
                </a:solidFill>
                <a:latin typeface="Arial"/>
                <a:ea typeface="Arial"/>
                <a:cs typeface="Arial"/>
                <a:sym typeface="Arial"/>
              </a:rPr>
              <a:t>• Integration of satellite NDVI vegetation data</a:t>
            </a:r>
          </a:p>
          <a:p>
            <a:pPr algn="l">
              <a:lnSpc>
                <a:spcPts val="3600"/>
              </a:lnSpc>
              <a:spcBef>
                <a:spcPct val="0"/>
              </a:spcBef>
            </a:pPr>
            <a:r>
              <a:rPr lang="en-US" sz="3000">
                <a:solidFill>
                  <a:srgbClr val="000000"/>
                </a:solidFill>
                <a:latin typeface="Arial"/>
                <a:ea typeface="Arial"/>
                <a:cs typeface="Arial"/>
                <a:sym typeface="Arial"/>
              </a:rPr>
              <a:t>• Real-time weather API integration</a:t>
            </a:r>
          </a:p>
          <a:p>
            <a:pPr algn="l">
              <a:lnSpc>
                <a:spcPts val="3600"/>
              </a:lnSpc>
              <a:spcBef>
                <a:spcPct val="0"/>
              </a:spcBef>
            </a:pPr>
            <a:r>
              <a:rPr lang="en-US" sz="3000">
                <a:solidFill>
                  <a:srgbClr val="000000"/>
                </a:solidFill>
                <a:latin typeface="Arial"/>
                <a:ea typeface="Arial"/>
                <a:cs typeface="Arial"/>
                <a:sym typeface="Arial"/>
              </a:rPr>
              <a:t>• Waste generation monitoring</a:t>
            </a:r>
          </a:p>
          <a:p>
            <a:pPr algn="l">
              <a:lnSpc>
                <a:spcPts val="3600"/>
              </a:lnSpc>
              <a:spcBef>
                <a:spcPct val="0"/>
              </a:spcBef>
            </a:pPr>
            <a:r>
              <a:rPr lang="en-US" sz="3000">
                <a:solidFill>
                  <a:srgbClr val="000000"/>
                </a:solidFill>
                <a:latin typeface="Arial"/>
                <a:ea typeface="Arial"/>
                <a:cs typeface="Arial"/>
                <a:sym typeface="Arial"/>
              </a:rPr>
              <a:t>• Crowd density detection using mobile data</a:t>
            </a:r>
          </a:p>
          <a:p>
            <a:pPr algn="l">
              <a:lnSpc>
                <a:spcPts val="3600"/>
              </a:lnSpc>
              <a:spcBef>
                <a:spcPct val="0"/>
              </a:spcBef>
            </a:pPr>
            <a:r>
              <a:rPr lang="en-US" sz="3000">
                <a:solidFill>
                  <a:srgbClr val="000000"/>
                </a:solidFill>
                <a:latin typeface="Arial"/>
                <a:ea typeface="Arial"/>
                <a:cs typeface="Arial"/>
                <a:sym typeface="Arial"/>
              </a:rPr>
              <a:t>• Government tourism policy decision support</a:t>
            </a:r>
          </a:p>
        </p:txBody>
      </p:sp>
      <p:sp>
        <p:nvSpPr>
          <p:cNvPr name="TextBox 10" id="10"/>
          <p:cNvSpPr txBox="true"/>
          <p:nvPr/>
        </p:nvSpPr>
        <p:spPr>
          <a:xfrm rot="0">
            <a:off x="580330" y="360426"/>
            <a:ext cx="11112665" cy="804777"/>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Conclusion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TextBox 6" id="6"/>
          <p:cNvSpPr txBox="true"/>
          <p:nvPr/>
        </p:nvSpPr>
        <p:spPr>
          <a:xfrm rot="0">
            <a:off x="580330" y="399612"/>
            <a:ext cx="11112665" cy="804777"/>
          </a:xfrm>
          <a:prstGeom prst="rect">
            <a:avLst/>
          </a:prstGeom>
        </p:spPr>
        <p:txBody>
          <a:bodyPr anchor="t" rtlCol="false" tIns="0" lIns="0" bIns="0" rIns="0">
            <a:spAutoFit/>
          </a:bodyPr>
          <a:lstStyle/>
          <a:p>
            <a:pPr algn="l">
              <a:lnSpc>
                <a:spcPts val="5759"/>
              </a:lnSpc>
            </a:pPr>
            <a:r>
              <a:rPr lang="en-US" sz="4800" b="true">
                <a:solidFill>
                  <a:srgbClr val="46B0FA"/>
                </a:solidFill>
                <a:latin typeface="Arial Bold"/>
                <a:ea typeface="Arial Bold"/>
                <a:cs typeface="Arial Bold"/>
                <a:sym typeface="Arial Bold"/>
              </a:rPr>
              <a:t>Reference</a:t>
            </a:r>
          </a:p>
        </p:txBody>
      </p:sp>
      <p:sp>
        <p:nvSpPr>
          <p:cNvPr name="TextBox 7" id="7"/>
          <p:cNvSpPr txBox="true"/>
          <p:nvPr/>
        </p:nvSpPr>
        <p:spPr>
          <a:xfrm rot="0">
            <a:off x="941672" y="1309273"/>
            <a:ext cx="16575869" cy="1847850"/>
          </a:xfrm>
          <a:prstGeom prst="rect">
            <a:avLst/>
          </a:prstGeom>
        </p:spPr>
        <p:txBody>
          <a:bodyPr anchor="t" rtlCol="false" tIns="0" lIns="0" bIns="0" rIns="0">
            <a:spAutoFit/>
          </a:bodyPr>
          <a:lstStyle/>
          <a:p>
            <a:pPr algn="l">
              <a:lnSpc>
                <a:spcPts val="3600"/>
              </a:lnSpc>
              <a:spcBef>
                <a:spcPct val="0"/>
              </a:spcBef>
            </a:pPr>
            <a:r>
              <a:rPr lang="en-US" b="true" sz="3000">
                <a:solidFill>
                  <a:srgbClr val="000000"/>
                </a:solidFill>
                <a:latin typeface="Arial Bold"/>
                <a:ea typeface="Arial Bold"/>
                <a:cs typeface="Arial Bold"/>
                <a:sym typeface="Arial Bold"/>
              </a:rPr>
              <a:t>Tourism Data &amp; Reports</a:t>
            </a:r>
          </a:p>
          <a:p>
            <a:pPr algn="l">
              <a:lnSpc>
                <a:spcPts val="3600"/>
              </a:lnSpc>
              <a:spcBef>
                <a:spcPct val="0"/>
              </a:spcBef>
            </a:pPr>
            <a:r>
              <a:rPr lang="en-US" sz="3000" u="sng">
                <a:solidFill>
                  <a:srgbClr val="000000"/>
                </a:solidFill>
                <a:latin typeface="Arial"/>
                <a:ea typeface="Arial"/>
                <a:cs typeface="Arial"/>
                <a:sym typeface="Arial"/>
                <a:hlinkClick r:id="rId3" tooltip="https://www.sacredyatra.com/chardham-yatra-pilgrim-stats.html"/>
              </a:rPr>
              <a:t>Sacred Yatra - Char Dham Pilgrim Statistics</a:t>
            </a:r>
          </a:p>
          <a:p>
            <a:pPr algn="l">
              <a:lnSpc>
                <a:spcPts val="3600"/>
              </a:lnSpc>
              <a:spcBef>
                <a:spcPct val="0"/>
              </a:spcBef>
            </a:pPr>
            <a:r>
              <a:rPr lang="en-US" sz="3000" u="sng">
                <a:solidFill>
                  <a:srgbClr val="000000"/>
                </a:solidFill>
                <a:latin typeface="Arial"/>
                <a:ea typeface="Arial"/>
                <a:cs typeface="Arial"/>
                <a:sym typeface="Arial"/>
                <a:hlinkClick r:id="rId4" tooltip="https://uttarakhandtourism.gov.in/assets/pdf/Final_Master%20Plan_Report.pdf"/>
              </a:rPr>
              <a:t>Uttarakhand Tourism Development Board</a:t>
            </a:r>
          </a:p>
          <a:p>
            <a:pPr algn="l">
              <a:lnSpc>
                <a:spcPts val="3600"/>
              </a:lnSpc>
              <a:spcBef>
                <a:spcPct val="0"/>
              </a:spcBef>
            </a:pPr>
            <a:r>
              <a:rPr lang="en-US" sz="3000" u="sng">
                <a:solidFill>
                  <a:srgbClr val="000000"/>
                </a:solidFill>
                <a:latin typeface="Arial"/>
                <a:ea typeface="Arial"/>
                <a:cs typeface="Arial"/>
                <a:sym typeface="Arial"/>
                <a:hlinkClick r:id="rId5" tooltip="https://www.sdcuk.in/wp-content/uploads/2024/08/DataAnalysisOf100DaysOfUttarakhandCharDhamYatra2024MidTermReport_SDC-Foundation.pdf"/>
              </a:rPr>
              <a:t>SDC Foundation - Char Dham Yatra Data Analysis Report (2024)</a:t>
            </a:r>
          </a:p>
        </p:txBody>
      </p:sp>
      <p:sp>
        <p:nvSpPr>
          <p:cNvPr name="TextBox 8" id="8"/>
          <p:cNvSpPr txBox="true"/>
          <p:nvPr/>
        </p:nvSpPr>
        <p:spPr>
          <a:xfrm rot="0">
            <a:off x="941672" y="3733346"/>
            <a:ext cx="11237913" cy="1390650"/>
          </a:xfrm>
          <a:prstGeom prst="rect">
            <a:avLst/>
          </a:prstGeom>
        </p:spPr>
        <p:txBody>
          <a:bodyPr anchor="t" rtlCol="false" tIns="0" lIns="0" bIns="0" rIns="0">
            <a:spAutoFit/>
          </a:bodyPr>
          <a:lstStyle/>
          <a:p>
            <a:pPr algn="l">
              <a:lnSpc>
                <a:spcPts val="3600"/>
              </a:lnSpc>
              <a:spcBef>
                <a:spcPct val="0"/>
              </a:spcBef>
            </a:pPr>
            <a:r>
              <a:rPr lang="en-US" b="true" sz="3000">
                <a:solidFill>
                  <a:srgbClr val="000000"/>
                </a:solidFill>
                <a:latin typeface="Arial Bold"/>
                <a:ea typeface="Arial Bold"/>
                <a:cs typeface="Arial Bold"/>
                <a:sym typeface="Arial Bold"/>
              </a:rPr>
              <a:t>Research Papers</a:t>
            </a:r>
          </a:p>
          <a:p>
            <a:pPr algn="l">
              <a:lnSpc>
                <a:spcPts val="3600"/>
              </a:lnSpc>
              <a:spcBef>
                <a:spcPct val="0"/>
              </a:spcBef>
            </a:pPr>
            <a:r>
              <a:rPr lang="en-US" sz="3000" u="sng">
                <a:solidFill>
                  <a:srgbClr val="000000"/>
                </a:solidFill>
                <a:latin typeface="Arial"/>
                <a:ea typeface="Arial"/>
                <a:cs typeface="Arial"/>
                <a:sym typeface="Arial"/>
                <a:hlinkClick r:id="rId6" tooltip="https://jmr.sharadpauri.org/papers/19_2_2024/49_jmr2024277_Amit.pdf"/>
              </a:rPr>
              <a:t>Tourism Pressure in Himalayan Pilgrimage Regions</a:t>
            </a:r>
          </a:p>
          <a:p>
            <a:pPr algn="l">
              <a:lnSpc>
                <a:spcPts val="3600"/>
              </a:lnSpc>
              <a:spcBef>
                <a:spcPct val="0"/>
              </a:spcBef>
            </a:pPr>
            <a:r>
              <a:rPr lang="en-US" sz="3000" u="sng">
                <a:solidFill>
                  <a:srgbClr val="000000"/>
                </a:solidFill>
                <a:latin typeface="Arial"/>
                <a:ea typeface="Arial"/>
                <a:cs typeface="Arial"/>
                <a:sym typeface="Arial"/>
                <a:hlinkClick r:id="rId7" tooltip="https://www.ejosdr.com/download/sustainability-and-environmental-management-of-pilgrimage-tourism-a-framework-for-mitigating-17637.pdf"/>
              </a:rPr>
              <a:t>Sustainability &amp; Environmental Management of Pilgrimage Tourism</a:t>
            </a:r>
          </a:p>
        </p:txBody>
      </p:sp>
      <p:sp>
        <p:nvSpPr>
          <p:cNvPr name="TextBox 9" id="9"/>
          <p:cNvSpPr txBox="true"/>
          <p:nvPr/>
        </p:nvSpPr>
        <p:spPr>
          <a:xfrm rot="0">
            <a:off x="941672" y="5700219"/>
            <a:ext cx="7919939" cy="1390650"/>
          </a:xfrm>
          <a:prstGeom prst="rect">
            <a:avLst/>
          </a:prstGeom>
        </p:spPr>
        <p:txBody>
          <a:bodyPr anchor="t" rtlCol="false" tIns="0" lIns="0" bIns="0" rIns="0">
            <a:spAutoFit/>
          </a:bodyPr>
          <a:lstStyle/>
          <a:p>
            <a:pPr algn="l">
              <a:lnSpc>
                <a:spcPts val="3600"/>
              </a:lnSpc>
              <a:spcBef>
                <a:spcPct val="0"/>
              </a:spcBef>
            </a:pPr>
            <a:r>
              <a:rPr lang="en-US" b="true" sz="3000">
                <a:solidFill>
                  <a:srgbClr val="000000"/>
                </a:solidFill>
                <a:latin typeface="Arial Bold"/>
                <a:ea typeface="Arial Bold"/>
                <a:cs typeface="Arial Bold"/>
                <a:sym typeface="Arial Bold"/>
              </a:rPr>
              <a:t>Climate &amp; Satellite Data Sources</a:t>
            </a:r>
          </a:p>
          <a:p>
            <a:pPr algn="l">
              <a:lnSpc>
                <a:spcPts val="3600"/>
              </a:lnSpc>
              <a:spcBef>
                <a:spcPct val="0"/>
              </a:spcBef>
            </a:pPr>
            <a:r>
              <a:rPr lang="en-US" sz="3000" u="sng">
                <a:solidFill>
                  <a:srgbClr val="000000"/>
                </a:solidFill>
                <a:latin typeface="Arial"/>
                <a:ea typeface="Arial"/>
                <a:cs typeface="Arial"/>
                <a:sym typeface="Arial"/>
                <a:hlinkClick r:id="rId8" tooltip="https://www.sentinel-hub.com/explore/eobrowser/"/>
              </a:rPr>
              <a:t>Sentinel Hub EO Browser - Satellite Monitoring</a:t>
            </a:r>
          </a:p>
          <a:p>
            <a:pPr algn="l">
              <a:lnSpc>
                <a:spcPts val="3600"/>
              </a:lnSpc>
              <a:spcBef>
                <a:spcPct val="0"/>
              </a:spcBef>
            </a:pPr>
            <a:r>
              <a:rPr lang="en-US" sz="3000" u="sng">
                <a:solidFill>
                  <a:srgbClr val="000000"/>
                </a:solidFill>
                <a:latin typeface="Arial"/>
                <a:ea typeface="Arial"/>
                <a:cs typeface="Arial"/>
                <a:sym typeface="Arial"/>
                <a:hlinkClick r:id="rId9" tooltip="https://earthexplorer.usgs.gov"/>
              </a:rPr>
              <a:t>USGS Earth Explorer - Landsat Satellite Data</a:t>
            </a:r>
          </a:p>
        </p:txBody>
      </p:sp>
      <p:sp>
        <p:nvSpPr>
          <p:cNvPr name="TextBox 10" id="10"/>
          <p:cNvSpPr txBox="true"/>
          <p:nvPr/>
        </p:nvSpPr>
        <p:spPr>
          <a:xfrm rot="0">
            <a:off x="941672" y="7662369"/>
            <a:ext cx="8957866" cy="1390650"/>
          </a:xfrm>
          <a:prstGeom prst="rect">
            <a:avLst/>
          </a:prstGeom>
        </p:spPr>
        <p:txBody>
          <a:bodyPr anchor="t" rtlCol="false" tIns="0" lIns="0" bIns="0" rIns="0">
            <a:spAutoFit/>
          </a:bodyPr>
          <a:lstStyle/>
          <a:p>
            <a:pPr algn="l">
              <a:lnSpc>
                <a:spcPts val="3600"/>
              </a:lnSpc>
              <a:spcBef>
                <a:spcPct val="0"/>
              </a:spcBef>
            </a:pPr>
            <a:r>
              <a:rPr lang="en-US" b="true" sz="3000">
                <a:solidFill>
                  <a:srgbClr val="000000"/>
                </a:solidFill>
                <a:latin typeface="Arial Bold"/>
                <a:ea typeface="Arial Bold"/>
                <a:cs typeface="Arial Bold"/>
                <a:sym typeface="Arial Bold"/>
              </a:rPr>
              <a:t>Waste Management Studies</a:t>
            </a:r>
          </a:p>
          <a:p>
            <a:pPr algn="l">
              <a:lnSpc>
                <a:spcPts val="3600"/>
              </a:lnSpc>
              <a:spcBef>
                <a:spcPct val="0"/>
              </a:spcBef>
            </a:pPr>
            <a:r>
              <a:rPr lang="en-US" sz="3000" u="sng">
                <a:solidFill>
                  <a:srgbClr val="000000"/>
                </a:solidFill>
                <a:latin typeface="Arial"/>
                <a:ea typeface="Arial"/>
                <a:cs typeface="Arial"/>
                <a:sym typeface="Arial"/>
                <a:hlinkClick r:id="rId10" tooltip="https://www.sciencedirect.com/science/article/abs/pii/S0956053X03000278"/>
              </a:rPr>
              <a:t>Solid Waste Management in Himalayan Tourist Areas</a:t>
            </a:r>
          </a:p>
          <a:p>
            <a:pPr algn="l">
              <a:lnSpc>
                <a:spcPts val="3600"/>
              </a:lnSpc>
              <a:spcBef>
                <a:spcPct val="0"/>
              </a:spcBef>
            </a:pPr>
            <a:r>
              <a:rPr lang="en-US" sz="3000" u="sng">
                <a:solidFill>
                  <a:srgbClr val="000000"/>
                </a:solidFill>
                <a:latin typeface="Arial"/>
                <a:ea typeface="Arial"/>
                <a:cs typeface="Arial"/>
                <a:sym typeface="Arial"/>
                <a:hlinkClick r:id="rId11" tooltip="https://www.researchgate.net/publication/233155383_Pilgrimage_and_the_Environment_Challenges_in_a_Pilgrimage_Centre"/>
              </a:rPr>
              <a:t>Environmental Challenges in Pilgrimage Centres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844" y="108318"/>
            <a:ext cx="18040483" cy="10070373"/>
            <a:chOff x="0" y="0"/>
            <a:chExt cx="24053978" cy="13427164"/>
          </a:xfrm>
        </p:grpSpPr>
        <p:sp>
          <p:nvSpPr>
            <p:cNvPr name="Freeform 3" id="3"/>
            <p:cNvSpPr/>
            <p:nvPr/>
          </p:nvSpPr>
          <p:spPr>
            <a:xfrm flipH="false" flipV="false" rot="0">
              <a:off x="0" y="0"/>
              <a:ext cx="24053927" cy="13427202"/>
            </a:xfrm>
            <a:custGeom>
              <a:avLst/>
              <a:gdLst/>
              <a:ahLst/>
              <a:cxnLst/>
              <a:rect r="r" b="b" t="t" l="l"/>
              <a:pathLst>
                <a:path h="13427202" w="24053927">
                  <a:moveTo>
                    <a:pt x="28575" y="0"/>
                  </a:moveTo>
                  <a:lnTo>
                    <a:pt x="24025352" y="0"/>
                  </a:lnTo>
                  <a:cubicBezTo>
                    <a:pt x="24041100" y="0"/>
                    <a:pt x="24053927" y="12827"/>
                    <a:pt x="24053927" y="28575"/>
                  </a:cubicBezTo>
                  <a:lnTo>
                    <a:pt x="24053927" y="13398627"/>
                  </a:lnTo>
                  <a:cubicBezTo>
                    <a:pt x="24053927" y="13414375"/>
                    <a:pt x="24041100" y="13427202"/>
                    <a:pt x="24025352" y="13427202"/>
                  </a:cubicBezTo>
                  <a:lnTo>
                    <a:pt x="28575" y="13427202"/>
                  </a:lnTo>
                  <a:cubicBezTo>
                    <a:pt x="12827" y="13427202"/>
                    <a:pt x="0" y="13414375"/>
                    <a:pt x="0" y="13398627"/>
                  </a:cubicBezTo>
                  <a:lnTo>
                    <a:pt x="0" y="28575"/>
                  </a:lnTo>
                  <a:cubicBezTo>
                    <a:pt x="0" y="12827"/>
                    <a:pt x="12827" y="0"/>
                    <a:pt x="28575" y="0"/>
                  </a:cubicBezTo>
                  <a:moveTo>
                    <a:pt x="28575" y="57150"/>
                  </a:moveTo>
                  <a:lnTo>
                    <a:pt x="28575" y="28575"/>
                  </a:lnTo>
                  <a:lnTo>
                    <a:pt x="57150" y="28575"/>
                  </a:lnTo>
                  <a:lnTo>
                    <a:pt x="57150" y="13398627"/>
                  </a:lnTo>
                  <a:lnTo>
                    <a:pt x="28575" y="13398627"/>
                  </a:lnTo>
                  <a:lnTo>
                    <a:pt x="28575" y="13370052"/>
                  </a:lnTo>
                  <a:lnTo>
                    <a:pt x="24025352" y="13370052"/>
                  </a:lnTo>
                  <a:lnTo>
                    <a:pt x="24025352" y="13398627"/>
                  </a:lnTo>
                  <a:lnTo>
                    <a:pt x="23996777" y="13398627"/>
                  </a:lnTo>
                  <a:lnTo>
                    <a:pt x="23996777" y="28575"/>
                  </a:lnTo>
                  <a:lnTo>
                    <a:pt x="24025352" y="28575"/>
                  </a:lnTo>
                  <a:lnTo>
                    <a:pt x="24025352" y="57150"/>
                  </a:lnTo>
                  <a:lnTo>
                    <a:pt x="28575" y="57150"/>
                  </a:lnTo>
                  <a:close/>
                </a:path>
              </a:pathLst>
            </a:custGeom>
            <a:solidFill>
              <a:srgbClr val="46B0F9"/>
            </a:solidFill>
          </p:spPr>
        </p:sp>
      </p:grpSp>
      <p:grpSp>
        <p:nvGrpSpPr>
          <p:cNvPr name="Group 4" id="4"/>
          <p:cNvGrpSpPr/>
          <p:nvPr/>
        </p:nvGrpSpPr>
        <p:grpSpPr>
          <a:xfrm rot="0">
            <a:off x="16077133" y="191729"/>
            <a:ext cx="2004384" cy="811159"/>
            <a:chOff x="0" y="0"/>
            <a:chExt cx="2672512" cy="1081545"/>
          </a:xfrm>
        </p:grpSpPr>
        <p:sp>
          <p:nvSpPr>
            <p:cNvPr name="Freeform 5" id="5" descr="A picture containing text, clipart  Description automatically generated"/>
            <p:cNvSpPr/>
            <p:nvPr/>
          </p:nvSpPr>
          <p:spPr>
            <a:xfrm flipH="false" flipV="false" rot="0">
              <a:off x="0" y="0"/>
              <a:ext cx="2672461" cy="1081532"/>
            </a:xfrm>
            <a:custGeom>
              <a:avLst/>
              <a:gdLst/>
              <a:ahLst/>
              <a:cxnLst/>
              <a:rect r="r" b="b" t="t" l="l"/>
              <a:pathLst>
                <a:path h="1081532" w="2672461">
                  <a:moveTo>
                    <a:pt x="0" y="0"/>
                  </a:moveTo>
                  <a:lnTo>
                    <a:pt x="2672461" y="0"/>
                  </a:lnTo>
                  <a:lnTo>
                    <a:pt x="2672461" y="1081532"/>
                  </a:lnTo>
                  <a:lnTo>
                    <a:pt x="0" y="1081532"/>
                  </a:lnTo>
                  <a:lnTo>
                    <a:pt x="0" y="0"/>
                  </a:lnTo>
                  <a:close/>
                </a:path>
              </a:pathLst>
            </a:custGeom>
            <a:blipFill>
              <a:blip r:embed="rId2"/>
              <a:stretch>
                <a:fillRect l="0" t="-14695" r="-8057" b="-2"/>
              </a:stretch>
            </a:blipFill>
          </p:spPr>
        </p:sp>
      </p:grpSp>
      <p:sp>
        <p:nvSpPr>
          <p:cNvPr name="TextBox 6" id="6"/>
          <p:cNvSpPr txBox="true"/>
          <p:nvPr/>
        </p:nvSpPr>
        <p:spPr>
          <a:xfrm rot="0">
            <a:off x="2934376" y="5400342"/>
            <a:ext cx="12419238" cy="1756677"/>
          </a:xfrm>
          <a:prstGeom prst="rect">
            <a:avLst/>
          </a:prstGeom>
        </p:spPr>
        <p:txBody>
          <a:bodyPr anchor="t" rtlCol="false" tIns="0" lIns="0" bIns="0" rIns="0">
            <a:spAutoFit/>
          </a:bodyPr>
          <a:lstStyle/>
          <a:p>
            <a:pPr algn="ctr">
              <a:lnSpc>
                <a:spcPts val="12960"/>
              </a:lnSpc>
            </a:pPr>
            <a:r>
              <a:rPr lang="en-US" sz="10800" b="true">
                <a:solidFill>
                  <a:srgbClr val="46B0FA"/>
                </a:solidFill>
                <a:latin typeface="Arial Bold"/>
                <a:ea typeface="Arial Bold"/>
                <a:cs typeface="Arial Bold"/>
                <a:sym typeface="Arial Bold"/>
              </a:rPr>
              <a:t>Thank You</a:t>
            </a:r>
          </a:p>
        </p:txBody>
      </p:sp>
      <p:grpSp>
        <p:nvGrpSpPr>
          <p:cNvPr name="Group 7" id="7"/>
          <p:cNvGrpSpPr/>
          <p:nvPr/>
        </p:nvGrpSpPr>
        <p:grpSpPr>
          <a:xfrm rot="0">
            <a:off x="16002000" y="225704"/>
            <a:ext cx="2071868" cy="1024357"/>
            <a:chOff x="0" y="0"/>
            <a:chExt cx="2762491" cy="1365809"/>
          </a:xfrm>
        </p:grpSpPr>
        <p:sp>
          <p:nvSpPr>
            <p:cNvPr name="Freeform 8" id="8"/>
            <p:cNvSpPr/>
            <p:nvPr/>
          </p:nvSpPr>
          <p:spPr>
            <a:xfrm flipH="false" flipV="false" rot="0">
              <a:off x="0" y="0"/>
              <a:ext cx="2762504" cy="1365758"/>
            </a:xfrm>
            <a:custGeom>
              <a:avLst/>
              <a:gdLst/>
              <a:ahLst/>
              <a:cxnLst/>
              <a:rect r="r" b="b" t="t" l="l"/>
              <a:pathLst>
                <a:path h="1365758" w="2762504">
                  <a:moveTo>
                    <a:pt x="0" y="0"/>
                  </a:moveTo>
                  <a:lnTo>
                    <a:pt x="2762504" y="0"/>
                  </a:lnTo>
                  <a:lnTo>
                    <a:pt x="2762504" y="1365758"/>
                  </a:lnTo>
                  <a:lnTo>
                    <a:pt x="0" y="1365758"/>
                  </a:lnTo>
                  <a:close/>
                </a:path>
              </a:pathLst>
            </a:custGeom>
            <a:solidFill>
              <a:srgbClr val="FFFFFF"/>
            </a:solidFill>
          </p:spPr>
        </p:sp>
      </p:grpSp>
      <p:grpSp>
        <p:nvGrpSpPr>
          <p:cNvPr name="Group 9" id="9"/>
          <p:cNvGrpSpPr/>
          <p:nvPr/>
        </p:nvGrpSpPr>
        <p:grpSpPr>
          <a:xfrm rot="0">
            <a:off x="5989320" y="2564978"/>
            <a:ext cx="6309360" cy="2710282"/>
            <a:chOff x="0" y="0"/>
            <a:chExt cx="8412480" cy="3613709"/>
          </a:xfrm>
        </p:grpSpPr>
        <p:sp>
          <p:nvSpPr>
            <p:cNvPr name="Freeform 10" id="10" descr="A picture containing text, clipart  Description automatically generated"/>
            <p:cNvSpPr/>
            <p:nvPr/>
          </p:nvSpPr>
          <p:spPr>
            <a:xfrm flipH="false" flipV="false" rot="0">
              <a:off x="0" y="0"/>
              <a:ext cx="8412480" cy="3613658"/>
            </a:xfrm>
            <a:custGeom>
              <a:avLst/>
              <a:gdLst/>
              <a:ahLst/>
              <a:cxnLst/>
              <a:rect r="r" b="b" t="t" l="l"/>
              <a:pathLst>
                <a:path h="3613658" w="8412480">
                  <a:moveTo>
                    <a:pt x="0" y="0"/>
                  </a:moveTo>
                  <a:lnTo>
                    <a:pt x="8412480" y="0"/>
                  </a:lnTo>
                  <a:lnTo>
                    <a:pt x="8412480" y="3613658"/>
                  </a:lnTo>
                  <a:lnTo>
                    <a:pt x="0" y="3613658"/>
                  </a:lnTo>
                  <a:lnTo>
                    <a:pt x="0" y="0"/>
                  </a:lnTo>
                  <a:close/>
                </a:path>
              </a:pathLst>
            </a:custGeom>
            <a:blipFill>
              <a:blip r:embed="rId2"/>
              <a:stretch>
                <a:fillRect l="0" t="0" r="0" b="-1"/>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DAHD4wapb60</dc:identifier>
  <dcterms:modified xsi:type="dcterms:W3CDTF">2011-08-01T06:04:30Z</dcterms:modified>
  <cp:revision>1</cp:revision>
  <dc:title>Project Presentation Template (2).pptx</dc:title>
</cp:coreProperties>
</file>